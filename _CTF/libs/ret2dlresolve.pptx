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6"/>
  </p:notesMasterIdLst>
  <p:sldIdLst>
    <p:sldId id="257" r:id="rId5"/>
    <p:sldId id="278" r:id="rId7"/>
    <p:sldId id="279" r:id="rId8"/>
    <p:sldId id="280" r:id="rId9"/>
    <p:sldId id="267" r:id="rId10"/>
    <p:sldId id="274" r:id="rId11"/>
    <p:sldId id="273" r:id="rId12"/>
    <p:sldId id="276" r:id="rId13"/>
    <p:sldId id="275" r:id="rId14"/>
    <p:sldId id="277" r:id="rId15"/>
    <p:sldId id="272" r:id="rId16"/>
    <p:sldId id="26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3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2CA"/>
    <a:srgbClr val="F8E57F"/>
    <a:srgbClr val="FFD2BE"/>
    <a:srgbClr val="FFD1BE"/>
    <a:srgbClr val="FFCFBE"/>
    <a:srgbClr val="FFD5BE"/>
    <a:srgbClr val="FFC8BE"/>
    <a:srgbClr val="FBD6BE"/>
    <a:srgbClr val="FAD1B3"/>
    <a:srgbClr val="F9CB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212" y="68"/>
      </p:cViewPr>
      <p:guideLst>
        <p:guide orient="horz" pos="2192"/>
        <p:guide pos="38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现在我们来根据段头表模拟程序的加载过程</a:t>
            </a:r>
            <a:endParaRPr lang="zh-CN" altLang="en-US" dirty="0"/>
          </a:p>
          <a:p>
            <a:r>
              <a:rPr lang="zh-CN" altLang="en-US" dirty="0"/>
              <a:t>段分为</a:t>
            </a:r>
            <a:r>
              <a:rPr lang="en-US" altLang="zh-CN" dirty="0"/>
              <a:t>LOAD</a:t>
            </a:r>
            <a:r>
              <a:rPr lang="zh-CN" altLang="en-US" dirty="0"/>
              <a:t>段及其他段，只有</a:t>
            </a:r>
            <a:r>
              <a:rPr lang="en-US" altLang="zh-CN" dirty="0"/>
              <a:t>LOAD</a:t>
            </a:r>
            <a:r>
              <a:rPr lang="zh-CN" altLang="en-US" dirty="0"/>
              <a:t>段才会有实际加载的动作，而其他段都是在</a:t>
            </a:r>
            <a:r>
              <a:rPr lang="en-US" altLang="zh-CN" dirty="0"/>
              <a:t>LOAD</a:t>
            </a:r>
            <a:r>
              <a:rPr lang="zh-CN" altLang="en-US" dirty="0"/>
              <a:t>段的基础上对其进行覆盖，用来设置段信息或额外权限，四个</a:t>
            </a:r>
            <a:r>
              <a:rPr lang="en-US" altLang="zh-CN" dirty="0"/>
              <a:t>LOAD</a:t>
            </a:r>
            <a:r>
              <a:rPr lang="zh-CN" altLang="en-US" dirty="0"/>
              <a:t>段会将刚才说的除</a:t>
            </a:r>
            <a:r>
              <a:rPr lang="en-US" altLang="zh-CN" dirty="0"/>
              <a:t>.bss</a:t>
            </a:r>
            <a:r>
              <a:rPr lang="zh-CN" altLang="en-US" dirty="0"/>
              <a:t>节下面部分的其余全部文件内容依次加载到内存</a:t>
            </a:r>
            <a:r>
              <a:rPr lang="zh-CN" altLang="en-US" dirty="0"/>
              <a:t>中</a:t>
            </a:r>
            <a:endParaRPr lang="zh-CN" altLang="en-US" dirty="0"/>
          </a:p>
          <a:p>
            <a:r>
              <a:rPr lang="zh-CN" altLang="en-US" dirty="0"/>
              <a:t>首先是第一个</a:t>
            </a:r>
            <a:r>
              <a:rPr lang="en-US" altLang="zh-CN" dirty="0"/>
              <a:t>load</a:t>
            </a:r>
            <a:r>
              <a:rPr lang="zh-CN" altLang="en-US" dirty="0"/>
              <a:t>段，该段权限为只读，包含程序加载以及动态链接所需的全部信息</a:t>
            </a:r>
            <a:endParaRPr lang="en-US" altLang="zh-CN" dirty="0"/>
          </a:p>
          <a:p>
            <a:r>
              <a:rPr lang="zh-CN" altLang="en-US" dirty="0"/>
              <a:t>第二个</a:t>
            </a:r>
            <a:r>
              <a:rPr lang="en-US" altLang="zh-CN" dirty="0"/>
              <a:t>load</a:t>
            </a:r>
            <a:r>
              <a:rPr lang="zh-CN" altLang="en-US" dirty="0"/>
              <a:t>段，包含程序中所有可执行代码，因为该段的权限为可读可执行</a:t>
            </a:r>
            <a:r>
              <a:rPr lang="en-US" altLang="zh-CN" dirty="0"/>
              <a:t>, </a:t>
            </a:r>
            <a:r>
              <a:rPr lang="zh-CN" altLang="en-US" dirty="0"/>
              <a:t>所以也称为代码段，注意与</a:t>
            </a:r>
            <a:r>
              <a:rPr lang="en-US" altLang="zh-CN" dirty="0"/>
              <a:t>.text</a:t>
            </a:r>
            <a:r>
              <a:rPr lang="zh-CN" altLang="en-US" dirty="0"/>
              <a:t>代码节的区分</a:t>
            </a:r>
            <a:endParaRPr lang="en-US" altLang="zh-CN" dirty="0"/>
          </a:p>
          <a:p>
            <a:r>
              <a:rPr lang="zh-CN" altLang="en-US" dirty="0"/>
              <a:t>然后是第三个</a:t>
            </a:r>
            <a:r>
              <a:rPr lang="en-US" altLang="zh-CN" dirty="0"/>
              <a:t>load</a:t>
            </a:r>
            <a:r>
              <a:rPr lang="zh-CN" altLang="en-US" dirty="0"/>
              <a:t>段，权限为只读，即只读数据段，保存程序中的只读数据</a:t>
            </a:r>
            <a:r>
              <a:rPr lang="en-US" altLang="zh-CN" dirty="0"/>
              <a:t>, </a:t>
            </a:r>
            <a:r>
              <a:rPr lang="zh-CN" altLang="en-US" dirty="0"/>
              <a:t>如字符串常量及异常中断表等</a:t>
            </a:r>
            <a:endParaRPr lang="en-US" altLang="zh-CN" dirty="0"/>
          </a:p>
          <a:p>
            <a:r>
              <a:rPr lang="zh-CN" altLang="en-US" dirty="0"/>
              <a:t>最后一个</a:t>
            </a:r>
            <a:r>
              <a:rPr lang="en-US" altLang="zh-CN" dirty="0"/>
              <a:t>load</a:t>
            </a:r>
            <a:r>
              <a:rPr lang="zh-CN" altLang="en-US" dirty="0"/>
              <a:t>段为数据段，权限为可读可写，保存如</a:t>
            </a:r>
            <a:r>
              <a:rPr lang="en-US" altLang="zh-CN" dirty="0"/>
              <a:t>got</a:t>
            </a:r>
            <a:r>
              <a:rPr lang="zh-CN" altLang="en-US" dirty="0"/>
              <a:t>表、</a:t>
            </a:r>
            <a:r>
              <a:rPr lang="en-US" altLang="zh-CN" dirty="0"/>
              <a:t>.data</a:t>
            </a:r>
            <a:r>
              <a:rPr lang="zh-CN" altLang="en-US" dirty="0"/>
              <a:t>节以及</a:t>
            </a:r>
            <a:r>
              <a:rPr lang="en-US" altLang="zh-CN" dirty="0"/>
              <a:t>.</a:t>
            </a:r>
            <a:r>
              <a:rPr lang="en-US" altLang="zh-CN" dirty="0" err="1"/>
              <a:t>bss</a:t>
            </a:r>
            <a:r>
              <a:rPr lang="zh-CN" altLang="en-US" dirty="0"/>
              <a:t>节等可读</a:t>
            </a:r>
            <a:r>
              <a:rPr lang="zh-CN" altLang="en-US" dirty="0"/>
              <a:t>可写数据</a:t>
            </a:r>
            <a:endParaRPr lang="zh-CN" altLang="en-US" dirty="0"/>
          </a:p>
          <a:p>
            <a:r>
              <a:rPr lang="zh-CN" altLang="en-US" dirty="0"/>
              <a:t>其他段包括段头表段和解释器段刚才已经提过了</a:t>
            </a:r>
            <a:endParaRPr lang="zh-CN" altLang="en-US" dirty="0"/>
          </a:p>
          <a:p>
            <a:r>
              <a:rPr lang="zh-CN" altLang="en-US" dirty="0"/>
              <a:t>最后还有两个特殊的段，</a:t>
            </a:r>
            <a:r>
              <a:rPr lang="en-US" altLang="zh-CN" dirty="0"/>
              <a:t>stack</a:t>
            </a:r>
            <a:r>
              <a:rPr lang="zh-CN" altLang="en-US" dirty="0"/>
              <a:t>段和</a:t>
            </a:r>
            <a:r>
              <a:rPr lang="en-US" altLang="zh-CN" dirty="0"/>
              <a:t>reloacate readonly</a:t>
            </a:r>
            <a:r>
              <a:rPr lang="zh-CN" altLang="en-US" dirty="0"/>
              <a:t>段</a:t>
            </a:r>
            <a:endParaRPr lang="zh-CN" altLang="en-US" dirty="0"/>
          </a:p>
          <a:p>
            <a:r>
              <a:rPr lang="zh-CN" altLang="en-US" dirty="0"/>
              <a:t>首先是</a:t>
            </a:r>
            <a:r>
              <a:rPr lang="en-US" altLang="zh-CN" dirty="0"/>
              <a:t>stack</a:t>
            </a:r>
            <a:r>
              <a:rPr lang="zh-CN" altLang="en-US" dirty="0"/>
              <a:t>段，它并没有加载位置以及段大小，因为此时还没有开辟栈空间，但它的作用是为栈设置权限，当权限设置为</a:t>
            </a:r>
            <a:r>
              <a:rPr lang="en-US" altLang="zh-CN" dirty="0"/>
              <a:t>RW</a:t>
            </a:r>
            <a:r>
              <a:rPr lang="zh-CN" altLang="en-US" dirty="0"/>
              <a:t>时，栈就只有可读可写权限，并没有可执行权限，即我们常说的栈不可执行</a:t>
            </a:r>
            <a:r>
              <a:rPr lang="en-US" altLang="zh-CN" dirty="0"/>
              <a:t>NX</a:t>
            </a:r>
            <a:r>
              <a:rPr lang="zh-CN" altLang="en-US" dirty="0"/>
              <a:t>，</a:t>
            </a:r>
            <a:r>
              <a:rPr lang="en-US" altLang="zh-CN" dirty="0"/>
              <a:t>checksec</a:t>
            </a:r>
            <a:r>
              <a:rPr lang="zh-CN" altLang="en-US" dirty="0"/>
              <a:t>命令也正是根据这一段的信息进行输出的</a:t>
            </a:r>
            <a:endParaRPr lang="zh-CN" altLang="en-US" dirty="0"/>
          </a:p>
          <a:p>
            <a:r>
              <a:rPr lang="zh-CN" altLang="en-US" dirty="0"/>
              <a:t>最后是重定位只读段，它是对第四个</a:t>
            </a:r>
            <a:r>
              <a:rPr lang="en-US" altLang="zh-CN" dirty="0"/>
              <a:t>LOAD</a:t>
            </a:r>
            <a:r>
              <a:rPr lang="zh-CN" altLang="en-US" dirty="0"/>
              <a:t>段数据段的覆盖，将覆盖到的部分权限由可读可写设置为只读，用以重定位保护，当它覆盖的大小为</a:t>
            </a:r>
            <a:r>
              <a:rPr lang="en-US" altLang="zh-CN" dirty="0"/>
              <a:t>0</a:t>
            </a:r>
            <a:r>
              <a:rPr lang="zh-CN" altLang="en-US" dirty="0"/>
              <a:t>时，即</a:t>
            </a:r>
            <a:r>
              <a:rPr lang="en-US" altLang="zh-CN" dirty="0"/>
              <a:t>No RELRO</a:t>
            </a:r>
            <a:r>
              <a:rPr lang="zh-CN" altLang="en-US" dirty="0"/>
              <a:t>，当其覆盖部分为从数据段开始到</a:t>
            </a:r>
            <a:r>
              <a:rPr lang="en-US" altLang="zh-CN" dirty="0"/>
              <a:t>got</a:t>
            </a:r>
            <a:r>
              <a:rPr lang="zh-CN" altLang="en-US" dirty="0"/>
              <a:t>表的第三项时，即为右边看到的</a:t>
            </a:r>
            <a:r>
              <a:rPr lang="en-US" altLang="zh-CN" dirty="0"/>
              <a:t>Partial RELRO</a:t>
            </a:r>
            <a:r>
              <a:rPr lang="zh-CN" altLang="en-US" dirty="0"/>
              <a:t>，即部分重定位只读，当覆盖范围包含到整个</a:t>
            </a:r>
            <a:r>
              <a:rPr lang="en-US" altLang="zh-CN" dirty="0"/>
              <a:t>got</a:t>
            </a:r>
            <a:r>
              <a:rPr lang="zh-CN" altLang="en-US" dirty="0"/>
              <a:t>表时，即为</a:t>
            </a:r>
            <a:r>
              <a:rPr lang="en-US" altLang="zh-CN" dirty="0"/>
              <a:t>full RELRO</a:t>
            </a:r>
            <a:r>
              <a:rPr lang="zh-CN" altLang="en-US" dirty="0"/>
              <a:t>，至于为什么是</a:t>
            </a:r>
            <a:r>
              <a:rPr lang="en-US" altLang="zh-CN" dirty="0"/>
              <a:t>got</a:t>
            </a:r>
            <a:r>
              <a:rPr lang="zh-CN" altLang="en-US" dirty="0"/>
              <a:t>表的第三项，我们后面再讲</a:t>
            </a:r>
            <a:endParaRPr lang="en-US" altLang="zh-CN" dirty="0"/>
          </a:p>
          <a:p>
            <a:r>
              <a:rPr lang="zh-CN" altLang="en-US" dirty="0"/>
              <a:t>至此</a:t>
            </a:r>
            <a:r>
              <a:rPr lang="zh-CN" altLang="en-US" dirty="0"/>
              <a:t>我们完成了加载器</a:t>
            </a:r>
            <a:r>
              <a:rPr lang="en-US" altLang="zh-CN" dirty="0"/>
              <a:t>loader</a:t>
            </a:r>
            <a:r>
              <a:rPr lang="zh-CN" altLang="en-US" dirty="0"/>
              <a:t>根据段头表将程序加载到内存中的整个过程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当程序需要链接动态库，即存在</a:t>
            </a:r>
            <a:r>
              <a:rPr lang="en-US" altLang="zh-CN" dirty="0"/>
              <a:t>.interpret</a:t>
            </a:r>
            <a:r>
              <a:rPr lang="zh-CN" altLang="en-US" dirty="0"/>
              <a:t>段时，就无法在</a:t>
            </a:r>
            <a:r>
              <a:rPr lang="en-US" altLang="zh-CN" dirty="0"/>
              <a:t>load</a:t>
            </a:r>
            <a:r>
              <a:rPr lang="zh-CN" altLang="en-US" dirty="0"/>
              <a:t>阶段甚至动态链接阶段前得知诸如动态链接函数的具体地址。</a:t>
            </a:r>
            <a:endParaRPr lang="zh-CN" altLang="en-US" dirty="0"/>
          </a:p>
          <a:p>
            <a:r>
              <a:rPr lang="zh-CN" altLang="en-US" dirty="0"/>
              <a:t>而解析动态链接符号是一个相对比较耗时的工作，因此，为提高加载效率，在一般的动态链接过程中，会将符号解析推迟到第一次使用该符号时进行，即延迟绑定（</a:t>
            </a:r>
            <a:r>
              <a:rPr lang="en-US" altLang="zh-CN" dirty="0"/>
              <a:t>Lazy binding</a:t>
            </a:r>
            <a:r>
              <a:rPr lang="zh-CN" altLang="en-US" dirty="0"/>
              <a:t>）</a:t>
            </a:r>
            <a:endParaRPr lang="zh-CN" altLang="en-US" dirty="0"/>
          </a:p>
          <a:p>
            <a:r>
              <a:rPr lang="zh-CN" altLang="en-US" dirty="0"/>
              <a:t>延迟绑定需要两个额外的</a:t>
            </a:r>
            <a:r>
              <a:rPr lang="en-US" altLang="zh-CN" dirty="0"/>
              <a:t>section</a:t>
            </a:r>
            <a:r>
              <a:rPr lang="zh-CN" altLang="en-US" dirty="0"/>
              <a:t>，首先是位于</a:t>
            </a:r>
            <a:r>
              <a:rPr lang="en-US" altLang="zh-CN" dirty="0"/>
              <a:t>RW LOAD</a:t>
            </a:r>
            <a:r>
              <a:rPr lang="zh-CN" altLang="en-US" dirty="0"/>
              <a:t>段的</a:t>
            </a:r>
            <a:r>
              <a:rPr lang="en-US" altLang="zh-CN" dirty="0">
                <a:sym typeface="+mn-ea"/>
              </a:rPr>
              <a:t>.got</a:t>
            </a:r>
            <a:r>
              <a:rPr lang="zh-CN" altLang="en-US" dirty="0">
                <a:sym typeface="+mn-ea"/>
              </a:rPr>
              <a:t>节，即</a:t>
            </a:r>
            <a:r>
              <a:rPr lang="en-US" altLang="zh-CN" dirty="0">
                <a:sym typeface="+mn-ea"/>
              </a:rPr>
              <a:t>global offset table, </a:t>
            </a:r>
            <a:r>
              <a:rPr lang="zh-CN" altLang="en-US" dirty="0">
                <a:sym typeface="+mn-ea"/>
              </a:rPr>
              <a:t>实际上</a:t>
            </a:r>
            <a:r>
              <a:rPr lang="en-US" altLang="zh-CN" dirty="0">
                <a:sym typeface="+mn-ea"/>
              </a:rPr>
              <a:t>, .got</a:t>
            </a:r>
            <a:r>
              <a:rPr lang="zh-CN" altLang="en-US" dirty="0">
                <a:sym typeface="+mn-ea"/>
              </a:rPr>
              <a:t>节还分为两个子节，分别为数据表和过程表，而我们在延迟绑定中只关注过程表</a:t>
            </a:r>
            <a:r>
              <a:rPr lang="en-US" altLang="zh-CN" dirty="0">
                <a:sym typeface="+mn-ea"/>
              </a:rPr>
              <a:t>, </a:t>
            </a:r>
            <a:r>
              <a:rPr lang="zh-CN" altLang="en-US" dirty="0">
                <a:sym typeface="+mn-ea"/>
              </a:rPr>
              <a:t>因此后续所说的</a:t>
            </a:r>
            <a:r>
              <a:rPr lang="en-US" altLang="zh-CN" dirty="0">
                <a:sym typeface="+mn-ea"/>
              </a:rPr>
              <a:t>got</a:t>
            </a:r>
            <a:r>
              <a:rPr lang="zh-CN" altLang="en-US" dirty="0">
                <a:sym typeface="+mn-ea"/>
              </a:rPr>
              <a:t>表均指的是</a:t>
            </a:r>
            <a:r>
              <a:rPr lang="en-US" altLang="zh-CN" dirty="0">
                <a:sym typeface="+mn-ea"/>
              </a:rPr>
              <a:t>.</a:t>
            </a:r>
            <a:r>
              <a:rPr lang="en-US" altLang="zh-CN" dirty="0" err="1">
                <a:sym typeface="+mn-ea"/>
              </a:rPr>
              <a:t>got.plt</a:t>
            </a:r>
            <a:r>
              <a:rPr lang="zh-CN" altLang="en-US" dirty="0">
                <a:sym typeface="+mn-ea"/>
              </a:rPr>
              <a:t>节的内容。</a:t>
            </a:r>
            <a:endParaRPr lang="zh-CN" altLang="en-US" dirty="0"/>
          </a:p>
          <a:p>
            <a:r>
              <a:rPr lang="en-US" altLang="zh-CN" dirty="0"/>
              <a:t>got</a:t>
            </a:r>
            <a:r>
              <a:rPr lang="zh-CN" altLang="en-US" dirty="0"/>
              <a:t>表是一个</a:t>
            </a:r>
            <a:r>
              <a:rPr lang="en-US" altLang="zh-CN" dirty="0"/>
              <a:t>8</a:t>
            </a:r>
            <a:r>
              <a:rPr lang="zh-CN" altLang="en-US" dirty="0"/>
              <a:t>字节数组，其中前三项分别保存着</a:t>
            </a:r>
            <a:r>
              <a:rPr lang="en-US" altLang="zh-CN" dirty="0"/>
              <a:t>.dynamic</a:t>
            </a:r>
            <a:r>
              <a:rPr lang="zh-CN" altLang="en-US" dirty="0"/>
              <a:t>节起始地址、</a:t>
            </a:r>
            <a:r>
              <a:rPr lang="en-US" altLang="zh-CN" dirty="0" err="1"/>
              <a:t>link_map</a:t>
            </a:r>
            <a:r>
              <a:rPr lang="zh-CN" altLang="en-US" dirty="0"/>
              <a:t>结构体链表头以及</a:t>
            </a:r>
            <a:r>
              <a:rPr lang="en-US" altLang="zh-CN" dirty="0"/>
              <a:t>_</a:t>
            </a:r>
            <a:r>
              <a:rPr lang="en-US" altLang="zh-CN" dirty="0" err="1"/>
              <a:t>dl_runtime_resolve</a:t>
            </a:r>
            <a:r>
              <a:rPr lang="zh-CN" altLang="en-US" dirty="0"/>
              <a:t>解析函数，从第四项开始，依次保存着需要动态链接的函数的地址，但由于是延迟绑定，这个地址只有在解析函数解析后才会被写回</a:t>
            </a:r>
            <a:r>
              <a:rPr lang="en-US" altLang="zh-CN" dirty="0"/>
              <a:t>got</a:t>
            </a:r>
            <a:r>
              <a:rPr lang="zh-CN" altLang="en-US" dirty="0"/>
              <a:t>表，在加载阶段，这里存放的是其他地址值。</a:t>
            </a:r>
            <a:endParaRPr lang="zh-CN" altLang="en-US" dirty="0"/>
          </a:p>
          <a:p>
            <a:r>
              <a:rPr lang="zh-CN" altLang="en-US" dirty="0"/>
              <a:t>接着是位于</a:t>
            </a:r>
            <a:r>
              <a:rPr lang="en-US" altLang="zh-CN" dirty="0"/>
              <a:t>RE LOAD</a:t>
            </a:r>
            <a:r>
              <a:rPr lang="zh-CN" altLang="en-US" dirty="0"/>
              <a:t>段的</a:t>
            </a:r>
            <a:r>
              <a:rPr lang="en-US" altLang="zh-CN" dirty="0"/>
              <a:t>.</a:t>
            </a:r>
            <a:r>
              <a:rPr lang="en-US" altLang="zh-CN" dirty="0" err="1"/>
              <a:t>plt</a:t>
            </a:r>
            <a:r>
              <a:rPr lang="zh-CN" altLang="en-US" dirty="0"/>
              <a:t>节，</a:t>
            </a:r>
            <a:r>
              <a:rPr lang="en-US" altLang="zh-CN" dirty="0"/>
              <a:t>procedure linkage table, </a:t>
            </a:r>
            <a:r>
              <a:rPr lang="zh-CN" altLang="en-US" dirty="0"/>
              <a:t>保存动态链接函数桩代码以及解析器桩代码。</a:t>
            </a:r>
            <a:endParaRPr lang="zh-CN" altLang="en-US" dirty="0"/>
          </a:p>
          <a:p>
            <a:r>
              <a:rPr lang="en-US" altLang="zh-CN" dirty="0"/>
              <a:t>.</a:t>
            </a:r>
            <a:r>
              <a:rPr lang="en-US" altLang="zh-CN" dirty="0" err="1"/>
              <a:t>plt</a:t>
            </a:r>
            <a:r>
              <a:rPr lang="zh-CN" altLang="en-US" dirty="0"/>
              <a:t>也分为两个子节，其中</a:t>
            </a:r>
            <a:r>
              <a:rPr lang="en-US" altLang="zh-CN" dirty="0"/>
              <a:t>.</a:t>
            </a:r>
            <a:r>
              <a:rPr lang="en-US" altLang="zh-CN" dirty="0" err="1"/>
              <a:t>plt.sec</a:t>
            </a:r>
            <a:r>
              <a:rPr lang="zh-CN" altLang="en-US" dirty="0"/>
              <a:t>子节的每一项都是一个只有一条</a:t>
            </a:r>
            <a:r>
              <a:rPr lang="en-US" altLang="zh-CN" dirty="0" err="1"/>
              <a:t>jmp</a:t>
            </a:r>
            <a:r>
              <a:rPr lang="zh-CN" altLang="en-US" dirty="0"/>
              <a:t>指令的</a:t>
            </a:r>
            <a:r>
              <a:rPr lang="en-US" altLang="zh-CN" dirty="0" err="1"/>
              <a:t>plt</a:t>
            </a:r>
            <a:r>
              <a:rPr lang="zh-CN" altLang="en-US" dirty="0"/>
              <a:t>桩代码，与</a:t>
            </a:r>
            <a:r>
              <a:rPr lang="en-US" altLang="zh-CN" dirty="0"/>
              <a:t>got</a:t>
            </a:r>
            <a:r>
              <a:rPr lang="zh-CN" altLang="en-US" dirty="0"/>
              <a:t>表中待解析函数的每一项一一对应，</a:t>
            </a:r>
            <a:r>
              <a:rPr lang="en-US" altLang="zh-CN" dirty="0" err="1"/>
              <a:t>jmp</a:t>
            </a:r>
            <a:r>
              <a:rPr lang="zh-CN" altLang="en-US" dirty="0"/>
              <a:t>的目的地址即为</a:t>
            </a:r>
            <a:r>
              <a:rPr lang="en-US" altLang="zh-CN" dirty="0"/>
              <a:t>got</a:t>
            </a:r>
            <a:r>
              <a:rPr lang="zh-CN" altLang="en-US" dirty="0"/>
              <a:t>表中存放的地址。</a:t>
            </a:r>
            <a:endParaRPr lang="zh-CN" altLang="en-US" dirty="0"/>
          </a:p>
          <a:p>
            <a:r>
              <a:rPr lang="zh-CN" altLang="en-US" dirty="0"/>
              <a:t>而</a:t>
            </a:r>
            <a:r>
              <a:rPr lang="en-US" altLang="zh-CN" dirty="0"/>
              <a:t>.</a:t>
            </a:r>
            <a:r>
              <a:rPr lang="en-US" altLang="zh-CN" dirty="0" err="1"/>
              <a:t>plt</a:t>
            </a:r>
            <a:r>
              <a:rPr lang="zh-CN" altLang="en-US" dirty="0"/>
              <a:t>子节的每一项也是一段桩代码，包含一条</a:t>
            </a:r>
            <a:r>
              <a:rPr lang="en-US" altLang="zh-CN" dirty="0"/>
              <a:t>push</a:t>
            </a:r>
            <a:r>
              <a:rPr lang="zh-CN" altLang="en-US" dirty="0"/>
              <a:t>指令</a:t>
            </a:r>
            <a:r>
              <a:rPr lang="en-US" altLang="zh-CN" dirty="0"/>
              <a:t>(</a:t>
            </a:r>
            <a:r>
              <a:rPr lang="zh-CN" altLang="en-US" dirty="0"/>
              <a:t>用于传递参数</a:t>
            </a:r>
            <a:r>
              <a:rPr lang="en-US" altLang="zh-CN" dirty="0"/>
              <a:t>), </a:t>
            </a:r>
            <a:r>
              <a:rPr lang="zh-CN" altLang="en-US" dirty="0"/>
              <a:t>以及一条</a:t>
            </a:r>
            <a:r>
              <a:rPr lang="en-US" altLang="zh-CN" dirty="0" err="1"/>
              <a:t>jmp</a:t>
            </a:r>
            <a:r>
              <a:rPr lang="zh-CN" altLang="en-US" dirty="0"/>
              <a:t>指令，除第一项外，其余每一项的</a:t>
            </a:r>
            <a:r>
              <a:rPr lang="en-US" altLang="zh-CN" dirty="0" err="1"/>
              <a:t>jmp</a:t>
            </a:r>
            <a:r>
              <a:rPr lang="zh-CN" altLang="en-US" dirty="0"/>
              <a:t>指令都是跳转到</a:t>
            </a:r>
            <a:r>
              <a:rPr lang="en-US" altLang="zh-CN" dirty="0" err="1"/>
              <a:t>plt</a:t>
            </a:r>
            <a:r>
              <a:rPr lang="en-US" altLang="zh-CN" dirty="0"/>
              <a:t>[0], </a:t>
            </a:r>
            <a:r>
              <a:rPr lang="zh-CN" altLang="en-US" dirty="0"/>
              <a:t>而</a:t>
            </a:r>
            <a:r>
              <a:rPr lang="en-US" altLang="zh-CN" dirty="0" err="1"/>
              <a:t>plt</a:t>
            </a:r>
            <a:r>
              <a:rPr lang="en-US" altLang="zh-CN" dirty="0"/>
              <a:t>[0]</a:t>
            </a:r>
            <a:r>
              <a:rPr lang="zh-CN" altLang="en-US" dirty="0"/>
              <a:t>则是跳转到</a:t>
            </a:r>
            <a:r>
              <a:rPr lang="en-US" altLang="zh-CN" dirty="0"/>
              <a:t>got</a:t>
            </a:r>
            <a:r>
              <a:rPr lang="zh-CN" altLang="en-US" dirty="0"/>
              <a:t>表中存放的</a:t>
            </a:r>
            <a:r>
              <a:rPr lang="en-US" altLang="zh-CN" dirty="0"/>
              <a:t>_</a:t>
            </a:r>
            <a:r>
              <a:rPr lang="en-US" altLang="zh-CN" dirty="0" err="1"/>
              <a:t>dl_runtime_resolve</a:t>
            </a:r>
            <a:r>
              <a:rPr lang="zh-CN" altLang="en-US" dirty="0"/>
              <a:t>解析函数。</a:t>
            </a:r>
            <a:endParaRPr lang="zh-CN" altLang="en-US" dirty="0"/>
          </a:p>
          <a:p>
            <a:r>
              <a:rPr lang="zh-CN" altLang="en-US" dirty="0"/>
              <a:t>而</a:t>
            </a:r>
            <a:r>
              <a:rPr lang="en-US" altLang="zh-CN" dirty="0"/>
              <a:t>got</a:t>
            </a:r>
            <a:r>
              <a:rPr lang="zh-CN" altLang="en-US" dirty="0"/>
              <a:t>表中解析函数的每一项最开始存放的正是</a:t>
            </a:r>
            <a:r>
              <a:rPr lang="en-US" altLang="zh-CN" dirty="0" err="1"/>
              <a:t>plt</a:t>
            </a:r>
            <a:r>
              <a:rPr lang="zh-CN" altLang="en-US" dirty="0"/>
              <a:t>表中对应的每一项。</a:t>
            </a:r>
            <a:endParaRPr lang="zh-CN" altLang="en-US" dirty="0"/>
          </a:p>
          <a:p>
            <a:r>
              <a:rPr lang="zh-CN" altLang="en-US" dirty="0"/>
              <a:t>此时，如果在代码节</a:t>
            </a:r>
            <a:r>
              <a:rPr lang="en-US" altLang="zh-CN" dirty="0"/>
              <a:t>.text</a:t>
            </a:r>
            <a:r>
              <a:rPr lang="zh-CN" altLang="en-US" dirty="0"/>
              <a:t>执行过程中需要调用一个动态链接函数，实际上会先跳转到</a:t>
            </a:r>
            <a:r>
              <a:rPr lang="en-US" altLang="zh-CN" dirty="0"/>
              <a:t>.</a:t>
            </a:r>
            <a:r>
              <a:rPr lang="en-US" altLang="zh-CN" dirty="0" err="1"/>
              <a:t>plt.sec</a:t>
            </a:r>
            <a:r>
              <a:rPr lang="zh-CN" altLang="en-US" dirty="0"/>
              <a:t>节对应的桩函数。</a:t>
            </a:r>
            <a:endParaRPr lang="zh-CN" altLang="en-US" dirty="0"/>
          </a:p>
          <a:p>
            <a:r>
              <a:rPr lang="zh-CN" altLang="en-US" dirty="0"/>
              <a:t>桩函数取出</a:t>
            </a:r>
            <a:r>
              <a:rPr lang="en-US" altLang="zh-CN" dirty="0"/>
              <a:t>got</a:t>
            </a:r>
            <a:r>
              <a:rPr lang="zh-CN" altLang="en-US" dirty="0"/>
              <a:t>表中的地址作为跳转目的地址，而由于开始时</a:t>
            </a:r>
            <a:r>
              <a:rPr lang="en-US" altLang="zh-CN" dirty="0"/>
              <a:t>got</a:t>
            </a:r>
            <a:r>
              <a:rPr lang="zh-CN" altLang="en-US" dirty="0"/>
              <a:t>表存放的并不是动态链接函数的实际地址，而是</a:t>
            </a:r>
            <a:r>
              <a:rPr lang="en-US" altLang="zh-CN" dirty="0"/>
              <a:t>.</a:t>
            </a:r>
            <a:r>
              <a:rPr lang="en-US" altLang="zh-CN" dirty="0" err="1"/>
              <a:t>plt</a:t>
            </a:r>
            <a:r>
              <a:rPr lang="zh-CN" altLang="en-US" dirty="0"/>
              <a:t>节对应的表项，因此实际上就会发生控制流从</a:t>
            </a:r>
            <a:r>
              <a:rPr lang="en-US" altLang="zh-CN" dirty="0"/>
              <a:t>.</a:t>
            </a:r>
            <a:r>
              <a:rPr lang="en-US" altLang="zh-CN" dirty="0" err="1"/>
              <a:t>plt.sec</a:t>
            </a:r>
            <a:r>
              <a:rPr lang="zh-CN" altLang="en-US" dirty="0"/>
              <a:t>节的对应项到</a:t>
            </a:r>
            <a:r>
              <a:rPr lang="en-US" altLang="zh-CN" dirty="0"/>
              <a:t>.</a:t>
            </a:r>
            <a:r>
              <a:rPr lang="en-US" altLang="zh-CN" dirty="0" err="1"/>
              <a:t>plt</a:t>
            </a:r>
            <a:r>
              <a:rPr lang="zh-CN" altLang="en-US" dirty="0"/>
              <a:t>对应项的跳转</a:t>
            </a:r>
            <a:endParaRPr lang="zh-CN" altLang="en-US" dirty="0"/>
          </a:p>
          <a:p>
            <a:r>
              <a:rPr lang="zh-CN" altLang="en-US" dirty="0"/>
              <a:t>而每一项</a:t>
            </a:r>
            <a:r>
              <a:rPr lang="en-US" altLang="zh-CN" dirty="0" err="1"/>
              <a:t>plt</a:t>
            </a:r>
            <a:r>
              <a:rPr lang="zh-CN" altLang="en-US" dirty="0"/>
              <a:t>备用桩都会在</a:t>
            </a:r>
            <a:r>
              <a:rPr lang="en-US" altLang="zh-CN" dirty="0"/>
              <a:t>push</a:t>
            </a:r>
            <a:r>
              <a:rPr lang="zh-CN" altLang="en-US" dirty="0"/>
              <a:t>一个</a:t>
            </a:r>
            <a:r>
              <a:rPr lang="en-US" altLang="zh-CN" dirty="0"/>
              <a:t>index</a:t>
            </a:r>
            <a:r>
              <a:rPr lang="zh-CN" altLang="en-US" dirty="0"/>
              <a:t>参数后跳转到</a:t>
            </a:r>
            <a:r>
              <a:rPr lang="en-US" altLang="zh-CN" dirty="0" err="1"/>
              <a:t>plt</a:t>
            </a:r>
            <a:r>
              <a:rPr lang="en-US" altLang="zh-CN" dirty="0"/>
              <a:t>[0]</a:t>
            </a:r>
            <a:r>
              <a:rPr lang="zh-CN" altLang="en-US" dirty="0"/>
              <a:t>项解析器桩，解析器桩在</a:t>
            </a:r>
            <a:r>
              <a:rPr lang="en-US" altLang="zh-CN" dirty="0"/>
              <a:t>push</a:t>
            </a:r>
            <a:r>
              <a:rPr lang="zh-CN" altLang="en-US" dirty="0"/>
              <a:t>另外一个参数，即</a:t>
            </a:r>
            <a:r>
              <a:rPr lang="en-US" altLang="zh-CN" dirty="0"/>
              <a:t>got[1]</a:t>
            </a:r>
            <a:r>
              <a:rPr lang="zh-CN" altLang="en-US" dirty="0"/>
              <a:t>中的</a:t>
            </a:r>
            <a:r>
              <a:rPr lang="en-US" altLang="zh-CN" dirty="0" err="1"/>
              <a:t>link_map</a:t>
            </a:r>
            <a:r>
              <a:rPr lang="zh-CN" altLang="en-US" dirty="0"/>
              <a:t>结构体后，从</a:t>
            </a:r>
            <a:r>
              <a:rPr lang="en-US" altLang="zh-CN" dirty="0"/>
              <a:t>got[2]</a:t>
            </a:r>
            <a:r>
              <a:rPr lang="zh-CN" altLang="en-US" dirty="0"/>
              <a:t>中取出</a:t>
            </a:r>
            <a:r>
              <a:rPr lang="en-US" altLang="zh-CN" dirty="0"/>
              <a:t>_</a:t>
            </a:r>
            <a:r>
              <a:rPr lang="en-US" altLang="zh-CN" dirty="0" err="1"/>
              <a:t>dl_runtime_resolve</a:t>
            </a:r>
            <a:r>
              <a:rPr lang="zh-CN" altLang="en-US" dirty="0"/>
              <a:t>解释函数地址并跳转过去。</a:t>
            </a:r>
            <a:endParaRPr lang="zh-CN" altLang="en-US" dirty="0"/>
          </a:p>
          <a:p>
            <a:r>
              <a:rPr lang="zh-CN" altLang="en-US" dirty="0"/>
              <a:t>至此，完成控制流从</a:t>
            </a:r>
            <a:r>
              <a:rPr lang="en-US" altLang="zh-CN" dirty="0"/>
              <a:t>elf</a:t>
            </a:r>
            <a:r>
              <a:rPr lang="zh-CN" altLang="en-US" dirty="0"/>
              <a:t>文件到</a:t>
            </a:r>
            <a:r>
              <a:rPr lang="en-US" altLang="zh-CN" dirty="0" err="1"/>
              <a:t>libc</a:t>
            </a:r>
            <a:r>
              <a:rPr lang="zh-CN" altLang="en-US" dirty="0"/>
              <a:t>的交接，</a:t>
            </a:r>
            <a:r>
              <a:rPr lang="en-US" altLang="zh-CN" dirty="0"/>
              <a:t>_</a:t>
            </a:r>
            <a:r>
              <a:rPr lang="en-US" altLang="zh-CN" dirty="0" err="1"/>
              <a:t>dl_runtime_resolve</a:t>
            </a:r>
            <a:r>
              <a:rPr lang="zh-CN" altLang="en-US" dirty="0"/>
              <a:t>在完成动态解析后，将解析后的地址写回</a:t>
            </a:r>
            <a:r>
              <a:rPr lang="en-US" altLang="zh-CN" dirty="0"/>
              <a:t>got</a:t>
            </a:r>
            <a:r>
              <a:rPr lang="zh-CN" altLang="en-US" dirty="0"/>
              <a:t>表中</a:t>
            </a:r>
            <a:r>
              <a:rPr lang="en-US" altLang="zh-CN" dirty="0"/>
              <a:t>, </a:t>
            </a:r>
            <a:r>
              <a:rPr lang="zh-CN" altLang="en-US" dirty="0"/>
              <a:t>此即</a:t>
            </a:r>
            <a:r>
              <a:rPr lang="en-US" altLang="zh-CN" dirty="0" err="1"/>
              <a:t>plt</a:t>
            </a:r>
            <a:r>
              <a:rPr lang="zh-CN" altLang="en-US" dirty="0"/>
              <a:t>与</a:t>
            </a:r>
            <a:r>
              <a:rPr lang="en-US" altLang="zh-CN" dirty="0"/>
              <a:t>got</a:t>
            </a:r>
            <a:r>
              <a:rPr lang="zh-CN" altLang="en-US" dirty="0"/>
              <a:t>表实现动态函数解析的过程。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第一次调用动态链接函数的全过程就像我们刚才讲的</a:t>
            </a:r>
            <a:r>
              <a:rPr lang="zh-CN" altLang="en-US"/>
              <a:t>那样，</a:t>
            </a:r>
            <a:endParaRPr lang="zh-CN" altLang="en-US"/>
          </a:p>
          <a:p>
            <a:r>
              <a:rPr lang="zh-CN" altLang="en-US"/>
              <a:t>而后续调用就简单</a:t>
            </a:r>
            <a:r>
              <a:rPr lang="zh-CN" altLang="en-US"/>
              <a:t>许多</a:t>
            </a:r>
            <a:endParaRPr lang="zh-CN" altLang="en-US"/>
          </a:p>
          <a:p>
            <a:r>
              <a:rPr lang="zh-CN" altLang="en-US"/>
              <a:t>在代码节中出现一个</a:t>
            </a:r>
            <a:r>
              <a:rPr lang="en-US" altLang="zh-CN"/>
              <a:t>call</a:t>
            </a:r>
            <a:r>
              <a:rPr lang="zh-CN" altLang="en-US"/>
              <a:t>指令，先跳转到</a:t>
            </a:r>
            <a:r>
              <a:rPr lang="en-US" altLang="zh-CN"/>
              <a:t>.plt.sec</a:t>
            </a:r>
            <a:r>
              <a:rPr lang="zh-CN" altLang="en-US"/>
              <a:t>节的对应项的桩函数，其中的</a:t>
            </a:r>
            <a:r>
              <a:rPr lang="en-US" altLang="zh-CN"/>
              <a:t>jmp</a:t>
            </a:r>
            <a:r>
              <a:rPr lang="zh-CN" altLang="en-US"/>
              <a:t>指令从</a:t>
            </a:r>
            <a:r>
              <a:rPr lang="en-US" altLang="zh-CN"/>
              <a:t>got</a:t>
            </a:r>
            <a:r>
              <a:rPr lang="zh-CN" altLang="en-US"/>
              <a:t>表中取出地址，该地址已经被解析为动态链接函数的地址，因此直接就跳到该函数上，而不会再向上</a:t>
            </a:r>
            <a:r>
              <a:rPr lang="zh-CN" altLang="en-US"/>
              <a:t>解析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image" Target="../media/image2.png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image" Target="../media/image3.png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image" Target="../media/image4.png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image" Target="../media/image1.png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image" Target="../media/image2.png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image" Target="../media/image3.png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image" Target="../media/image4.png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 userDrawn="1">
            <p:custDataLst>
              <p:tags r:id="rId2"/>
            </p:custDataLst>
          </p:nvPr>
        </p:nvSpPr>
        <p:spPr>
          <a:xfrm>
            <a:off x="6055961" y="826274"/>
            <a:ext cx="5909293" cy="5793934"/>
          </a:xfrm>
          <a:custGeom>
            <a:avLst/>
            <a:gdLst>
              <a:gd name="connsiteX0" fmla="*/ 3879682 w 5909293"/>
              <a:gd name="connsiteY0" fmla="*/ 175 h 5793934"/>
              <a:gd name="connsiteX1" fmla="*/ 4334567 w 5909293"/>
              <a:gd name="connsiteY1" fmla="*/ 60453 h 5793934"/>
              <a:gd name="connsiteX2" fmla="*/ 5246308 w 5909293"/>
              <a:gd name="connsiteY2" fmla="*/ 1122598 h 5793934"/>
              <a:gd name="connsiteX3" fmla="*/ 5872742 w 5909293"/>
              <a:gd name="connsiteY3" fmla="*/ 3288868 h 5793934"/>
              <a:gd name="connsiteX4" fmla="*/ 5819651 w 5909293"/>
              <a:gd name="connsiteY4" fmla="*/ 4125030 h 5793934"/>
              <a:gd name="connsiteX5" fmla="*/ 5157837 w 5909293"/>
              <a:gd name="connsiteY5" fmla="*/ 4912778 h 5793934"/>
              <a:gd name="connsiteX6" fmla="*/ 3379536 w 5909293"/>
              <a:gd name="connsiteY6" fmla="*/ 5735681 h 5793934"/>
              <a:gd name="connsiteX7" fmla="*/ 2078353 w 5909293"/>
              <a:gd name="connsiteY7" fmla="*/ 5726438 h 5793934"/>
              <a:gd name="connsiteX8" fmla="*/ 1489530 w 5909293"/>
              <a:gd name="connsiteY8" fmla="*/ 5363600 h 5793934"/>
              <a:gd name="connsiteX9" fmla="*/ 1035251 w 5909293"/>
              <a:gd name="connsiteY9" fmla="*/ 4220617 h 5793934"/>
              <a:gd name="connsiteX10" fmla="*/ 602247 w 5909293"/>
              <a:gd name="connsiteY10" fmla="*/ 3634929 h 5793934"/>
              <a:gd name="connsiteX11" fmla="*/ 169546 w 5909293"/>
              <a:gd name="connsiteY11" fmla="*/ 2942699 h 5793934"/>
              <a:gd name="connsiteX12" fmla="*/ 652478 w 5909293"/>
              <a:gd name="connsiteY12" fmla="*/ 842508 h 5793934"/>
              <a:gd name="connsiteX13" fmla="*/ 1316613 w 5909293"/>
              <a:gd name="connsiteY13" fmla="*/ 445895 h 5793934"/>
              <a:gd name="connsiteX14" fmla="*/ 1375567 w 5909293"/>
              <a:gd name="connsiteY14" fmla="*/ 424437 h 5793934"/>
              <a:gd name="connsiteX15" fmla="*/ 3408460 w 5909293"/>
              <a:gd name="connsiteY15" fmla="*/ 39296 h 5793934"/>
              <a:gd name="connsiteX16" fmla="*/ 3879682 w 5909293"/>
              <a:gd name="connsiteY16" fmla="*/ 175 h 579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909293" h="5793934">
                <a:moveTo>
                  <a:pt x="3879682" y="175"/>
                </a:moveTo>
                <a:cubicBezTo>
                  <a:pt x="4036099" y="-1809"/>
                  <a:pt x="4189792" y="12773"/>
                  <a:pt x="4334567" y="60453"/>
                </a:cubicBezTo>
                <a:cubicBezTo>
                  <a:pt x="4813657" y="215756"/>
                  <a:pt x="5066087" y="681130"/>
                  <a:pt x="5246308" y="1122598"/>
                </a:cubicBezTo>
                <a:cubicBezTo>
                  <a:pt x="5530593" y="1818660"/>
                  <a:pt x="5740779" y="2546018"/>
                  <a:pt x="5872742" y="3288868"/>
                </a:cubicBezTo>
                <a:cubicBezTo>
                  <a:pt x="5918136" y="3538857"/>
                  <a:pt x="5941127" y="3794404"/>
                  <a:pt x="5819651" y="4125030"/>
                </a:cubicBezTo>
                <a:cubicBezTo>
                  <a:pt x="5698175" y="4455657"/>
                  <a:pt x="5555500" y="4602769"/>
                  <a:pt x="5157837" y="4912778"/>
                </a:cubicBezTo>
                <a:cubicBezTo>
                  <a:pt x="4760174" y="5222787"/>
                  <a:pt x="3749504" y="5653807"/>
                  <a:pt x="3379536" y="5735681"/>
                </a:cubicBezTo>
                <a:cubicBezTo>
                  <a:pt x="3009569" y="5817556"/>
                  <a:pt x="2330918" y="5811898"/>
                  <a:pt x="2078353" y="5726438"/>
                </a:cubicBezTo>
                <a:cubicBezTo>
                  <a:pt x="1825789" y="5640979"/>
                  <a:pt x="1633575" y="5511056"/>
                  <a:pt x="1489530" y="5363600"/>
                </a:cubicBezTo>
                <a:cubicBezTo>
                  <a:pt x="1194462" y="5065173"/>
                  <a:pt x="1220104" y="4592041"/>
                  <a:pt x="1035251" y="4220617"/>
                </a:cubicBezTo>
                <a:cubicBezTo>
                  <a:pt x="929927" y="4002824"/>
                  <a:pt x="753122" y="3825759"/>
                  <a:pt x="602247" y="3634929"/>
                </a:cubicBezTo>
                <a:cubicBezTo>
                  <a:pt x="430739" y="3418728"/>
                  <a:pt x="291908" y="3187171"/>
                  <a:pt x="169546" y="2942699"/>
                </a:cubicBezTo>
                <a:cubicBezTo>
                  <a:pt x="-176217" y="2249976"/>
                  <a:pt x="17688" y="1398039"/>
                  <a:pt x="652478" y="842508"/>
                </a:cubicBezTo>
                <a:cubicBezTo>
                  <a:pt x="844971" y="671207"/>
                  <a:pt x="1070014" y="535650"/>
                  <a:pt x="1316613" y="445895"/>
                </a:cubicBezTo>
                <a:cubicBezTo>
                  <a:pt x="1336025" y="438830"/>
                  <a:pt x="1354717" y="432026"/>
                  <a:pt x="1375567" y="424437"/>
                </a:cubicBezTo>
                <a:cubicBezTo>
                  <a:pt x="2029851" y="208795"/>
                  <a:pt x="2725822" y="123350"/>
                  <a:pt x="3408460" y="39296"/>
                </a:cubicBezTo>
                <a:cubicBezTo>
                  <a:pt x="3564127" y="20711"/>
                  <a:pt x="3723266" y="2160"/>
                  <a:pt x="3879682" y="17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7" name="图片 26" descr="无人机5资源 1@600x-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434330" y="1677670"/>
            <a:ext cx="6643370" cy="51803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702945" y="1304926"/>
            <a:ext cx="5393055" cy="2152650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01675" y="3740150"/>
            <a:ext cx="2880995" cy="58039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 dirty="0"/>
              <a:t>汇报人：</a:t>
            </a:r>
            <a:r>
              <a:rPr lang="en-US" altLang="zh-CN" dirty="0"/>
              <a:t>WPS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8"/>
            <p:custDataLst>
              <p:tags r:id="rId7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9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20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325" y="1276350"/>
            <a:ext cx="10799475" cy="4901565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/>
          <p:cNvSpPr/>
          <p:nvPr>
            <p:custDataLst>
              <p:tags r:id="rId2"/>
            </p:custDataLst>
          </p:nvPr>
        </p:nvSpPr>
        <p:spPr bwMode="auto">
          <a:xfrm>
            <a:off x="837565" y="3313430"/>
            <a:ext cx="3971925" cy="3523615"/>
          </a:xfrm>
          <a:custGeom>
            <a:avLst/>
            <a:gdLst>
              <a:gd name="T0" fmla="*/ 1557 w 2458"/>
              <a:gd name="T1" fmla="*/ 0 h 2180"/>
              <a:gd name="T2" fmla="*/ 1529 w 2458"/>
              <a:gd name="T3" fmla="*/ 0 h 2180"/>
              <a:gd name="T4" fmla="*/ 618 w 2458"/>
              <a:gd name="T5" fmla="*/ 140 h 2180"/>
              <a:gd name="T6" fmla="*/ 233 w 2458"/>
              <a:gd name="T7" fmla="*/ 281 h 2180"/>
              <a:gd name="T8" fmla="*/ 13 w 2458"/>
              <a:gd name="T9" fmla="*/ 831 h 2180"/>
              <a:gd name="T10" fmla="*/ 81 w 2458"/>
              <a:gd name="T11" fmla="*/ 1775 h 2180"/>
              <a:gd name="T12" fmla="*/ 215 w 2458"/>
              <a:gd name="T13" fmla="*/ 2066 h 2180"/>
              <a:gd name="T14" fmla="*/ 645 w 2458"/>
              <a:gd name="T15" fmla="*/ 2180 h 2180"/>
              <a:gd name="T16" fmla="*/ 1805 w 2458"/>
              <a:gd name="T17" fmla="*/ 2180 h 2180"/>
              <a:gd name="T18" fmla="*/ 2036 w 2458"/>
              <a:gd name="T19" fmla="*/ 2135 h 2180"/>
              <a:gd name="T20" fmla="*/ 2235 w 2458"/>
              <a:gd name="T21" fmla="*/ 1964 h 2180"/>
              <a:gd name="T22" fmla="*/ 2251 w 2458"/>
              <a:gd name="T23" fmla="*/ 1448 h 2180"/>
              <a:gd name="T24" fmla="*/ 2343 w 2458"/>
              <a:gd name="T25" fmla="*/ 1155 h 2180"/>
              <a:gd name="T26" fmla="*/ 2419 w 2458"/>
              <a:gd name="T27" fmla="*/ 820 h 2180"/>
              <a:gd name="T28" fmla="*/ 1896 w 2458"/>
              <a:gd name="T29" fmla="*/ 61 h 2180"/>
              <a:gd name="T30" fmla="*/ 1557 w 2458"/>
              <a:gd name="T31" fmla="*/ 0 h 2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58" h="2180">
                <a:moveTo>
                  <a:pt x="1557" y="0"/>
                </a:moveTo>
                <a:cubicBezTo>
                  <a:pt x="1548" y="0"/>
                  <a:pt x="1539" y="0"/>
                  <a:pt x="1529" y="0"/>
                </a:cubicBezTo>
                <a:cubicBezTo>
                  <a:pt x="1222" y="9"/>
                  <a:pt x="917" y="75"/>
                  <a:pt x="618" y="140"/>
                </a:cubicBezTo>
                <a:cubicBezTo>
                  <a:pt x="482" y="170"/>
                  <a:pt x="340" y="202"/>
                  <a:pt x="233" y="281"/>
                </a:cubicBezTo>
                <a:cubicBezTo>
                  <a:pt x="56" y="411"/>
                  <a:pt x="21" y="631"/>
                  <a:pt x="13" y="831"/>
                </a:cubicBezTo>
                <a:cubicBezTo>
                  <a:pt x="0" y="1146"/>
                  <a:pt x="23" y="1463"/>
                  <a:pt x="81" y="1775"/>
                </a:cubicBezTo>
                <a:cubicBezTo>
                  <a:pt x="100" y="1880"/>
                  <a:pt x="128" y="1991"/>
                  <a:pt x="215" y="2066"/>
                </a:cubicBezTo>
                <a:cubicBezTo>
                  <a:pt x="323" y="2159"/>
                  <a:pt x="491" y="2172"/>
                  <a:pt x="645" y="2180"/>
                </a:cubicBezTo>
                <a:cubicBezTo>
                  <a:pt x="1805" y="2180"/>
                  <a:pt x="1805" y="2180"/>
                  <a:pt x="1805" y="2180"/>
                </a:cubicBezTo>
                <a:cubicBezTo>
                  <a:pt x="1884" y="2180"/>
                  <a:pt x="1963" y="2165"/>
                  <a:pt x="2036" y="2135"/>
                </a:cubicBezTo>
                <a:cubicBezTo>
                  <a:pt x="2124" y="2098"/>
                  <a:pt x="2197" y="2043"/>
                  <a:pt x="2235" y="1964"/>
                </a:cubicBezTo>
                <a:cubicBezTo>
                  <a:pt x="2313" y="1804"/>
                  <a:pt x="2230" y="1621"/>
                  <a:pt x="2251" y="1448"/>
                </a:cubicBezTo>
                <a:cubicBezTo>
                  <a:pt x="2262" y="1347"/>
                  <a:pt x="2309" y="1252"/>
                  <a:pt x="2343" y="1155"/>
                </a:cubicBezTo>
                <a:cubicBezTo>
                  <a:pt x="2382" y="1045"/>
                  <a:pt x="2405" y="934"/>
                  <a:pt x="2419" y="820"/>
                </a:cubicBezTo>
                <a:cubicBezTo>
                  <a:pt x="2458" y="497"/>
                  <a:pt x="2247" y="189"/>
                  <a:pt x="1896" y="61"/>
                </a:cubicBezTo>
                <a:cubicBezTo>
                  <a:pt x="1789" y="21"/>
                  <a:pt x="1674" y="0"/>
                  <a:pt x="1557" y="0"/>
                </a:cubicBezTo>
              </a:path>
            </a:pathLst>
          </a:custGeom>
          <a:solidFill>
            <a:schemeClr val="accent1">
              <a:alpha val="17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837565" y="565150"/>
            <a:ext cx="2129790" cy="1081405"/>
          </a:xfrm>
        </p:spPr>
        <p:txBody>
          <a:bodyPr wrap="square" anchor="ctr" anchorCtr="0">
            <a:normAutofit/>
          </a:bodyPr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0" r="27352"/>
          <a:stretch>
            <a:fillRect/>
          </a:stretch>
        </p:blipFill>
        <p:spPr>
          <a:xfrm>
            <a:off x="1198245" y="2017395"/>
            <a:ext cx="3556000" cy="483171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"/>
          <p:cNvSpPr/>
          <p:nvPr userDrawn="1">
            <p:custDataLst>
              <p:tags r:id="rId2"/>
            </p:custDataLst>
          </p:nvPr>
        </p:nvSpPr>
        <p:spPr bwMode="auto">
          <a:xfrm rot="6240000" flipH="1">
            <a:off x="1155700" y="2376170"/>
            <a:ext cx="2943225" cy="3514725"/>
          </a:xfrm>
          <a:custGeom>
            <a:avLst/>
            <a:gdLst>
              <a:gd name="connsiteX0" fmla="*/ 4417 w 6611"/>
              <a:gd name="connsiteY0" fmla="*/ 31 h 6706"/>
              <a:gd name="connsiteX1" fmla="*/ 3525 w 6611"/>
              <a:gd name="connsiteY1" fmla="*/ 35 h 6706"/>
              <a:gd name="connsiteX2" fmla="*/ 1943 w 6611"/>
              <a:gd name="connsiteY2" fmla="*/ 444 h 6706"/>
              <a:gd name="connsiteX3" fmla="*/ 850 w 6611"/>
              <a:gd name="connsiteY3" fmla="*/ 1131 h 6706"/>
              <a:gd name="connsiteX4" fmla="*/ 7 w 6611"/>
              <a:gd name="connsiteY4" fmla="*/ 2491 h 6706"/>
              <a:gd name="connsiteX5" fmla="*/ 211 w 6611"/>
              <a:gd name="connsiteY5" fmla="*/ 4826 h 6706"/>
              <a:gd name="connsiteX6" fmla="*/ 752 w 6611"/>
              <a:gd name="connsiteY6" fmla="*/ 5937 h 6706"/>
              <a:gd name="connsiteX7" fmla="*/ 1926 w 6611"/>
              <a:gd name="connsiteY7" fmla="*/ 6575 h 6706"/>
              <a:gd name="connsiteX8" fmla="*/ 4060 w 6611"/>
              <a:gd name="connsiteY8" fmla="*/ 6611 h 6706"/>
              <a:gd name="connsiteX9" fmla="*/ 5547 w 6611"/>
              <a:gd name="connsiteY9" fmla="*/ 5965 h 6706"/>
              <a:gd name="connsiteX10" fmla="*/ 6120 w 6611"/>
              <a:gd name="connsiteY10" fmla="*/ 5119 h 6706"/>
              <a:gd name="connsiteX11" fmla="*/ 6193 w 6611"/>
              <a:gd name="connsiteY11" fmla="*/ 4057 h 6706"/>
              <a:gd name="connsiteX12" fmla="*/ 6398 w 6611"/>
              <a:gd name="connsiteY12" fmla="*/ 3222 h 6706"/>
              <a:gd name="connsiteX13" fmla="*/ 6599 w 6611"/>
              <a:gd name="connsiteY13" fmla="*/ 2281 h 6706"/>
              <a:gd name="connsiteX14" fmla="*/ 5278 w 6611"/>
              <a:gd name="connsiteY14" fmla="*/ 246 h 6706"/>
              <a:gd name="connsiteX15" fmla="*/ 4417 w 6611"/>
              <a:gd name="connsiteY15" fmla="*/ 31 h 6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0" t="0" r="r" b="b"/>
            <a:pathLst>
              <a:path w="6612" h="6706">
                <a:moveTo>
                  <a:pt x="4417" y="31"/>
                </a:moveTo>
                <a:cubicBezTo>
                  <a:pt x="4275" y="12"/>
                  <a:pt x="4045" y="-31"/>
                  <a:pt x="3525" y="35"/>
                </a:cubicBezTo>
                <a:cubicBezTo>
                  <a:pt x="3006" y="101"/>
                  <a:pt x="2368" y="252"/>
                  <a:pt x="1943" y="444"/>
                </a:cubicBezTo>
                <a:cubicBezTo>
                  <a:pt x="1518" y="636"/>
                  <a:pt x="1206" y="810"/>
                  <a:pt x="850" y="1131"/>
                </a:cubicBezTo>
                <a:cubicBezTo>
                  <a:pt x="494" y="1452"/>
                  <a:pt x="28" y="1938"/>
                  <a:pt x="7" y="2491"/>
                </a:cubicBezTo>
                <a:cubicBezTo>
                  <a:pt x="-27" y="3362"/>
                  <a:pt x="58" y="4271"/>
                  <a:pt x="211" y="4826"/>
                </a:cubicBezTo>
                <a:cubicBezTo>
                  <a:pt x="364" y="5381"/>
                  <a:pt x="482" y="5677"/>
                  <a:pt x="752" y="5937"/>
                </a:cubicBezTo>
                <a:cubicBezTo>
                  <a:pt x="1022" y="6197"/>
                  <a:pt x="1328" y="6417"/>
                  <a:pt x="1926" y="6575"/>
                </a:cubicBezTo>
                <a:cubicBezTo>
                  <a:pt x="2524" y="6733"/>
                  <a:pt x="3366" y="6751"/>
                  <a:pt x="4060" y="6611"/>
                </a:cubicBezTo>
                <a:cubicBezTo>
                  <a:pt x="4755" y="6471"/>
                  <a:pt x="5352" y="6115"/>
                  <a:pt x="5547" y="5965"/>
                </a:cubicBezTo>
                <a:cubicBezTo>
                  <a:pt x="5742" y="5815"/>
                  <a:pt x="6019" y="5562"/>
                  <a:pt x="6120" y="5119"/>
                </a:cubicBezTo>
                <a:cubicBezTo>
                  <a:pt x="6221" y="4677"/>
                  <a:pt x="6140" y="4535"/>
                  <a:pt x="6193" y="4057"/>
                </a:cubicBezTo>
                <a:cubicBezTo>
                  <a:pt x="6221" y="3778"/>
                  <a:pt x="6310" y="3490"/>
                  <a:pt x="6398" y="3222"/>
                </a:cubicBezTo>
                <a:cubicBezTo>
                  <a:pt x="6538" y="2812"/>
                  <a:pt x="6563" y="2596"/>
                  <a:pt x="6599" y="2281"/>
                </a:cubicBezTo>
                <a:cubicBezTo>
                  <a:pt x="6700" y="1390"/>
                  <a:pt x="6184" y="599"/>
                  <a:pt x="5278" y="246"/>
                </a:cubicBezTo>
                <a:cubicBezTo>
                  <a:pt x="5003" y="136"/>
                  <a:pt x="4559" y="50"/>
                  <a:pt x="4417" y="31"/>
                </a:cubicBezTo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微软雅黑" panose="020B0503020204020204" charset="-122"/>
            </a:endParaRPr>
          </a:p>
        </p:txBody>
      </p:sp>
      <p:pic>
        <p:nvPicPr>
          <p:cNvPr id="7" name="图片 6" descr="D:\工作文件\临时素材\无人机5资源-1@600x-8.png无人机5资源-1@600x-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rcRect l="150" r="150"/>
          <a:stretch>
            <a:fillRect/>
          </a:stretch>
        </p:blipFill>
        <p:spPr>
          <a:xfrm>
            <a:off x="869950" y="1550035"/>
            <a:ext cx="3757930" cy="32626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461000" y="3408045"/>
            <a:ext cx="5892800" cy="1761490"/>
          </a:xfrm>
        </p:spPr>
        <p:txBody>
          <a:bodyPr wrap="square" lIns="0" tIns="0" rIns="0" bIns="0" anchor="t" anchorCtr="0">
            <a:normAutofit/>
          </a:bodyPr>
          <a:lstStyle>
            <a:lvl1pPr algn="l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5461000" y="2364740"/>
            <a:ext cx="5892800" cy="960120"/>
          </a:xfrm>
          <a:prstGeom prst="roundRect">
            <a:avLst>
              <a:gd name="adj" fmla="val 0"/>
            </a:avLst>
          </a:prstGeom>
          <a:noFill/>
        </p:spPr>
        <p:txBody>
          <a:bodyPr wrap="square" anchor="b" anchorCtr="0">
            <a:noAutofit/>
          </a:bodyPr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buNone/>
              <a:defRPr sz="4800" b="1" u="none" strike="noStrike" kern="1200" cap="none" spc="100" normalizeH="0">
                <a:solidFill>
                  <a:schemeClr val="accent1"/>
                </a:solidFill>
                <a:uFillTx/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4"/>
            <p:custDataLst>
              <p:tags r:id="rId7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15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6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325" y="1276350"/>
            <a:ext cx="5324475" cy="49012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276350"/>
            <a:ext cx="5322600" cy="49012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326" y="1276350"/>
            <a:ext cx="5302250" cy="463385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326" y="2061275"/>
            <a:ext cx="5302250" cy="4128388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276350"/>
            <a:ext cx="5329238" cy="463385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2061275"/>
            <a:ext cx="5329238" cy="4128388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325" y="360000"/>
            <a:ext cx="10806113" cy="581760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325" y="1296000"/>
            <a:ext cx="10806113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6217227" y="854899"/>
            <a:ext cx="5597566" cy="5917440"/>
          </a:xfrm>
          <a:custGeom>
            <a:avLst/>
            <a:gdLst>
              <a:gd name="connsiteX0" fmla="*/ 3604196 w 5597566"/>
              <a:gd name="connsiteY0" fmla="*/ 127 h 5917440"/>
              <a:gd name="connsiteX1" fmla="*/ 5020674 w 5597566"/>
              <a:gd name="connsiteY1" fmla="*/ 776538 h 5917440"/>
              <a:gd name="connsiteX2" fmla="*/ 5376373 w 5597566"/>
              <a:gd name="connsiteY2" fmla="*/ 1444944 h 5917440"/>
              <a:gd name="connsiteX3" fmla="*/ 5557177 w 5597566"/>
              <a:gd name="connsiteY3" fmla="*/ 2184215 h 5917440"/>
              <a:gd name="connsiteX4" fmla="*/ 5545132 w 5597566"/>
              <a:gd name="connsiteY4" fmla="*/ 3578297 h 5917440"/>
              <a:gd name="connsiteX5" fmla="*/ 5202018 w 5597566"/>
              <a:gd name="connsiteY5" fmla="*/ 4624938 h 5917440"/>
              <a:gd name="connsiteX6" fmla="*/ 4250176 w 5597566"/>
              <a:gd name="connsiteY6" fmla="*/ 5603523 h 5917440"/>
              <a:gd name="connsiteX7" fmla="*/ 2275095 w 5597566"/>
              <a:gd name="connsiteY7" fmla="*/ 5916586 h 5917440"/>
              <a:gd name="connsiteX8" fmla="*/ 1243715 w 5597566"/>
              <a:gd name="connsiteY8" fmla="*/ 5698027 h 5917440"/>
              <a:gd name="connsiteX9" fmla="*/ 473239 w 5597566"/>
              <a:gd name="connsiteY9" fmla="*/ 4857811 h 5917440"/>
              <a:gd name="connsiteX10" fmla="*/ 2965 w 5597566"/>
              <a:gd name="connsiteY10" fmla="*/ 3098601 h 5917440"/>
              <a:gd name="connsiteX11" fmla="*/ 230813 w 5597566"/>
              <a:gd name="connsiteY11" fmla="*/ 1734249 h 5917440"/>
              <a:gd name="connsiteX12" fmla="*/ 812883 w 5597566"/>
              <a:gd name="connsiteY12" fmla="*/ 1085274 h 5917440"/>
              <a:gd name="connsiteX13" fmla="*/ 1676967 w 5597566"/>
              <a:gd name="connsiteY13" fmla="*/ 805643 h 5917440"/>
              <a:gd name="connsiteX14" fmla="*/ 2325887 w 5597566"/>
              <a:gd name="connsiteY14" fmla="*/ 463589 h 5917440"/>
              <a:gd name="connsiteX15" fmla="*/ 3063384 w 5597566"/>
              <a:gd name="connsiteY15" fmla="*/ 102968 h 5917440"/>
              <a:gd name="connsiteX16" fmla="*/ 3604196 w 5597566"/>
              <a:gd name="connsiteY16" fmla="*/ 127 h 591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597566" h="5917440">
                <a:moveTo>
                  <a:pt x="3604196" y="127"/>
                </a:moveTo>
                <a:cubicBezTo>
                  <a:pt x="4143157" y="-6764"/>
                  <a:pt x="4661253" y="268656"/>
                  <a:pt x="5020674" y="776538"/>
                </a:cubicBezTo>
                <a:cubicBezTo>
                  <a:pt x="5168497" y="981494"/>
                  <a:pt x="5331334" y="1331311"/>
                  <a:pt x="5376373" y="1444944"/>
                </a:cubicBezTo>
                <a:cubicBezTo>
                  <a:pt x="5421411" y="1558578"/>
                  <a:pt x="5504481" y="1740109"/>
                  <a:pt x="5557177" y="2184215"/>
                </a:cubicBezTo>
                <a:cubicBezTo>
                  <a:pt x="5609665" y="2627494"/>
                  <a:pt x="5616351" y="3186831"/>
                  <a:pt x="5545132" y="3578297"/>
                </a:cubicBezTo>
                <a:cubicBezTo>
                  <a:pt x="5473912" y="3969764"/>
                  <a:pt x="5394269" y="4263968"/>
                  <a:pt x="5202018" y="4624938"/>
                </a:cubicBezTo>
                <a:cubicBezTo>
                  <a:pt x="5009767" y="4985909"/>
                  <a:pt x="4703629" y="5471999"/>
                  <a:pt x="4250176" y="5603523"/>
                </a:cubicBezTo>
                <a:cubicBezTo>
                  <a:pt x="3536157" y="5811445"/>
                  <a:pt x="2766119" y="5928695"/>
                  <a:pt x="2275095" y="5916586"/>
                </a:cubicBezTo>
                <a:cubicBezTo>
                  <a:pt x="1784072" y="5904476"/>
                  <a:pt x="1514679" y="5867884"/>
                  <a:pt x="1243715" y="5698027"/>
                </a:cubicBezTo>
                <a:cubicBezTo>
                  <a:pt x="972750" y="5528171"/>
                  <a:pt x="727468" y="5320256"/>
                  <a:pt x="473239" y="4857811"/>
                </a:cubicBezTo>
                <a:cubicBezTo>
                  <a:pt x="219012" y="4395366"/>
                  <a:pt x="30316" y="3702028"/>
                  <a:pt x="2965" y="3098601"/>
                </a:cubicBezTo>
                <a:cubicBezTo>
                  <a:pt x="-24592" y="2494347"/>
                  <a:pt x="146889" y="1926640"/>
                  <a:pt x="230813" y="1734249"/>
                </a:cubicBezTo>
                <a:cubicBezTo>
                  <a:pt x="314738" y="1541857"/>
                  <a:pt x="467003" y="1260322"/>
                  <a:pt x="812883" y="1085274"/>
                </a:cubicBezTo>
                <a:cubicBezTo>
                  <a:pt x="1157935" y="910432"/>
                  <a:pt x="1292205" y="948179"/>
                  <a:pt x="1676967" y="805643"/>
                </a:cubicBezTo>
                <a:cubicBezTo>
                  <a:pt x="1902150" y="724878"/>
                  <a:pt x="2122194" y="591756"/>
                  <a:pt x="2325887" y="463589"/>
                </a:cubicBezTo>
                <a:cubicBezTo>
                  <a:pt x="2636399" y="263066"/>
                  <a:pt x="2810049" y="197787"/>
                  <a:pt x="3063384" y="102968"/>
                </a:cubicBezTo>
                <a:cubicBezTo>
                  <a:pt x="3242571" y="36089"/>
                  <a:pt x="3424543" y="2424"/>
                  <a:pt x="3604196" y="127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6" t="-1" r="15418" b="631"/>
          <a:stretch>
            <a:fillRect/>
          </a:stretch>
        </p:blipFill>
        <p:spPr>
          <a:xfrm>
            <a:off x="5990590" y="2422525"/>
            <a:ext cx="5417185" cy="44323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695325" y="1304926"/>
            <a:ext cx="5400675" cy="2152650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02000" y="3740785"/>
            <a:ext cx="2880000" cy="579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 userDrawn="1">
            <p:custDataLst>
              <p:tags r:id="rId2"/>
            </p:custDataLst>
          </p:nvPr>
        </p:nvSpPr>
        <p:spPr>
          <a:xfrm>
            <a:off x="6055961" y="826274"/>
            <a:ext cx="5909293" cy="5793934"/>
          </a:xfrm>
          <a:custGeom>
            <a:avLst/>
            <a:gdLst>
              <a:gd name="connsiteX0" fmla="*/ 3879682 w 5909293"/>
              <a:gd name="connsiteY0" fmla="*/ 175 h 5793934"/>
              <a:gd name="connsiteX1" fmla="*/ 4334567 w 5909293"/>
              <a:gd name="connsiteY1" fmla="*/ 60453 h 5793934"/>
              <a:gd name="connsiteX2" fmla="*/ 5246308 w 5909293"/>
              <a:gd name="connsiteY2" fmla="*/ 1122598 h 5793934"/>
              <a:gd name="connsiteX3" fmla="*/ 5872742 w 5909293"/>
              <a:gd name="connsiteY3" fmla="*/ 3288868 h 5793934"/>
              <a:gd name="connsiteX4" fmla="*/ 5819651 w 5909293"/>
              <a:gd name="connsiteY4" fmla="*/ 4125030 h 5793934"/>
              <a:gd name="connsiteX5" fmla="*/ 5157837 w 5909293"/>
              <a:gd name="connsiteY5" fmla="*/ 4912778 h 5793934"/>
              <a:gd name="connsiteX6" fmla="*/ 3379536 w 5909293"/>
              <a:gd name="connsiteY6" fmla="*/ 5735681 h 5793934"/>
              <a:gd name="connsiteX7" fmla="*/ 2078353 w 5909293"/>
              <a:gd name="connsiteY7" fmla="*/ 5726438 h 5793934"/>
              <a:gd name="connsiteX8" fmla="*/ 1489530 w 5909293"/>
              <a:gd name="connsiteY8" fmla="*/ 5363600 h 5793934"/>
              <a:gd name="connsiteX9" fmla="*/ 1035251 w 5909293"/>
              <a:gd name="connsiteY9" fmla="*/ 4220617 h 5793934"/>
              <a:gd name="connsiteX10" fmla="*/ 602247 w 5909293"/>
              <a:gd name="connsiteY10" fmla="*/ 3634929 h 5793934"/>
              <a:gd name="connsiteX11" fmla="*/ 169546 w 5909293"/>
              <a:gd name="connsiteY11" fmla="*/ 2942699 h 5793934"/>
              <a:gd name="connsiteX12" fmla="*/ 652478 w 5909293"/>
              <a:gd name="connsiteY12" fmla="*/ 842508 h 5793934"/>
              <a:gd name="connsiteX13" fmla="*/ 1316613 w 5909293"/>
              <a:gd name="connsiteY13" fmla="*/ 445895 h 5793934"/>
              <a:gd name="connsiteX14" fmla="*/ 1375567 w 5909293"/>
              <a:gd name="connsiteY14" fmla="*/ 424437 h 5793934"/>
              <a:gd name="connsiteX15" fmla="*/ 3408460 w 5909293"/>
              <a:gd name="connsiteY15" fmla="*/ 39296 h 5793934"/>
              <a:gd name="connsiteX16" fmla="*/ 3879682 w 5909293"/>
              <a:gd name="connsiteY16" fmla="*/ 175 h 579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909293" h="5793934">
                <a:moveTo>
                  <a:pt x="3879682" y="175"/>
                </a:moveTo>
                <a:cubicBezTo>
                  <a:pt x="4036099" y="-1809"/>
                  <a:pt x="4189792" y="12773"/>
                  <a:pt x="4334567" y="60453"/>
                </a:cubicBezTo>
                <a:cubicBezTo>
                  <a:pt x="4813657" y="215756"/>
                  <a:pt x="5066087" y="681130"/>
                  <a:pt x="5246308" y="1122598"/>
                </a:cubicBezTo>
                <a:cubicBezTo>
                  <a:pt x="5530593" y="1818660"/>
                  <a:pt x="5740779" y="2546018"/>
                  <a:pt x="5872742" y="3288868"/>
                </a:cubicBezTo>
                <a:cubicBezTo>
                  <a:pt x="5918136" y="3538857"/>
                  <a:pt x="5941127" y="3794404"/>
                  <a:pt x="5819651" y="4125030"/>
                </a:cubicBezTo>
                <a:cubicBezTo>
                  <a:pt x="5698175" y="4455657"/>
                  <a:pt x="5555500" y="4602769"/>
                  <a:pt x="5157837" y="4912778"/>
                </a:cubicBezTo>
                <a:cubicBezTo>
                  <a:pt x="4760174" y="5222787"/>
                  <a:pt x="3749504" y="5653807"/>
                  <a:pt x="3379536" y="5735681"/>
                </a:cubicBezTo>
                <a:cubicBezTo>
                  <a:pt x="3009569" y="5817556"/>
                  <a:pt x="2330918" y="5811898"/>
                  <a:pt x="2078353" y="5726438"/>
                </a:cubicBezTo>
                <a:cubicBezTo>
                  <a:pt x="1825789" y="5640979"/>
                  <a:pt x="1633575" y="5511056"/>
                  <a:pt x="1489530" y="5363600"/>
                </a:cubicBezTo>
                <a:cubicBezTo>
                  <a:pt x="1194462" y="5065173"/>
                  <a:pt x="1220104" y="4592041"/>
                  <a:pt x="1035251" y="4220617"/>
                </a:cubicBezTo>
                <a:cubicBezTo>
                  <a:pt x="929927" y="4002824"/>
                  <a:pt x="753122" y="3825759"/>
                  <a:pt x="602247" y="3634929"/>
                </a:cubicBezTo>
                <a:cubicBezTo>
                  <a:pt x="430739" y="3418728"/>
                  <a:pt x="291908" y="3187171"/>
                  <a:pt x="169546" y="2942699"/>
                </a:cubicBezTo>
                <a:cubicBezTo>
                  <a:pt x="-176217" y="2249976"/>
                  <a:pt x="17688" y="1398039"/>
                  <a:pt x="652478" y="842508"/>
                </a:cubicBezTo>
                <a:cubicBezTo>
                  <a:pt x="844971" y="671207"/>
                  <a:pt x="1070014" y="535650"/>
                  <a:pt x="1316613" y="445895"/>
                </a:cubicBezTo>
                <a:cubicBezTo>
                  <a:pt x="1336025" y="438830"/>
                  <a:pt x="1354717" y="432026"/>
                  <a:pt x="1375567" y="424437"/>
                </a:cubicBezTo>
                <a:cubicBezTo>
                  <a:pt x="2029851" y="208795"/>
                  <a:pt x="2725822" y="123350"/>
                  <a:pt x="3408460" y="39296"/>
                </a:cubicBezTo>
                <a:cubicBezTo>
                  <a:pt x="3564127" y="20711"/>
                  <a:pt x="3723266" y="2160"/>
                  <a:pt x="3879682" y="17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7" name="图片 26" descr="无人机5资源 1@600x-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434330" y="1677670"/>
            <a:ext cx="6643370" cy="51803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702945" y="1304926"/>
            <a:ext cx="5393055" cy="2152650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01675" y="3740150"/>
            <a:ext cx="2880995" cy="58039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 dirty="0"/>
              <a:t>汇报人：</a:t>
            </a:r>
            <a:r>
              <a:rPr lang="en-US" altLang="zh-CN" dirty="0"/>
              <a:t>WPS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8"/>
            <p:custDataLst>
              <p:tags r:id="rId7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9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20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325" y="1276350"/>
            <a:ext cx="10799475" cy="4901565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/>
          <p:cNvSpPr/>
          <p:nvPr>
            <p:custDataLst>
              <p:tags r:id="rId2"/>
            </p:custDataLst>
          </p:nvPr>
        </p:nvSpPr>
        <p:spPr bwMode="auto">
          <a:xfrm>
            <a:off x="837565" y="3313430"/>
            <a:ext cx="3971925" cy="3523615"/>
          </a:xfrm>
          <a:custGeom>
            <a:avLst/>
            <a:gdLst>
              <a:gd name="T0" fmla="*/ 1557 w 2458"/>
              <a:gd name="T1" fmla="*/ 0 h 2180"/>
              <a:gd name="T2" fmla="*/ 1529 w 2458"/>
              <a:gd name="T3" fmla="*/ 0 h 2180"/>
              <a:gd name="T4" fmla="*/ 618 w 2458"/>
              <a:gd name="T5" fmla="*/ 140 h 2180"/>
              <a:gd name="T6" fmla="*/ 233 w 2458"/>
              <a:gd name="T7" fmla="*/ 281 h 2180"/>
              <a:gd name="T8" fmla="*/ 13 w 2458"/>
              <a:gd name="T9" fmla="*/ 831 h 2180"/>
              <a:gd name="T10" fmla="*/ 81 w 2458"/>
              <a:gd name="T11" fmla="*/ 1775 h 2180"/>
              <a:gd name="T12" fmla="*/ 215 w 2458"/>
              <a:gd name="T13" fmla="*/ 2066 h 2180"/>
              <a:gd name="T14" fmla="*/ 645 w 2458"/>
              <a:gd name="T15" fmla="*/ 2180 h 2180"/>
              <a:gd name="T16" fmla="*/ 1805 w 2458"/>
              <a:gd name="T17" fmla="*/ 2180 h 2180"/>
              <a:gd name="T18" fmla="*/ 2036 w 2458"/>
              <a:gd name="T19" fmla="*/ 2135 h 2180"/>
              <a:gd name="T20" fmla="*/ 2235 w 2458"/>
              <a:gd name="T21" fmla="*/ 1964 h 2180"/>
              <a:gd name="T22" fmla="*/ 2251 w 2458"/>
              <a:gd name="T23" fmla="*/ 1448 h 2180"/>
              <a:gd name="T24" fmla="*/ 2343 w 2458"/>
              <a:gd name="T25" fmla="*/ 1155 h 2180"/>
              <a:gd name="T26" fmla="*/ 2419 w 2458"/>
              <a:gd name="T27" fmla="*/ 820 h 2180"/>
              <a:gd name="T28" fmla="*/ 1896 w 2458"/>
              <a:gd name="T29" fmla="*/ 61 h 2180"/>
              <a:gd name="T30" fmla="*/ 1557 w 2458"/>
              <a:gd name="T31" fmla="*/ 0 h 2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58" h="2180">
                <a:moveTo>
                  <a:pt x="1557" y="0"/>
                </a:moveTo>
                <a:cubicBezTo>
                  <a:pt x="1548" y="0"/>
                  <a:pt x="1539" y="0"/>
                  <a:pt x="1529" y="0"/>
                </a:cubicBezTo>
                <a:cubicBezTo>
                  <a:pt x="1222" y="9"/>
                  <a:pt x="917" y="75"/>
                  <a:pt x="618" y="140"/>
                </a:cubicBezTo>
                <a:cubicBezTo>
                  <a:pt x="482" y="170"/>
                  <a:pt x="340" y="202"/>
                  <a:pt x="233" y="281"/>
                </a:cubicBezTo>
                <a:cubicBezTo>
                  <a:pt x="56" y="411"/>
                  <a:pt x="21" y="631"/>
                  <a:pt x="13" y="831"/>
                </a:cubicBezTo>
                <a:cubicBezTo>
                  <a:pt x="0" y="1146"/>
                  <a:pt x="23" y="1463"/>
                  <a:pt x="81" y="1775"/>
                </a:cubicBezTo>
                <a:cubicBezTo>
                  <a:pt x="100" y="1880"/>
                  <a:pt x="128" y="1991"/>
                  <a:pt x="215" y="2066"/>
                </a:cubicBezTo>
                <a:cubicBezTo>
                  <a:pt x="323" y="2159"/>
                  <a:pt x="491" y="2172"/>
                  <a:pt x="645" y="2180"/>
                </a:cubicBezTo>
                <a:cubicBezTo>
                  <a:pt x="1805" y="2180"/>
                  <a:pt x="1805" y="2180"/>
                  <a:pt x="1805" y="2180"/>
                </a:cubicBezTo>
                <a:cubicBezTo>
                  <a:pt x="1884" y="2180"/>
                  <a:pt x="1963" y="2165"/>
                  <a:pt x="2036" y="2135"/>
                </a:cubicBezTo>
                <a:cubicBezTo>
                  <a:pt x="2124" y="2098"/>
                  <a:pt x="2197" y="2043"/>
                  <a:pt x="2235" y="1964"/>
                </a:cubicBezTo>
                <a:cubicBezTo>
                  <a:pt x="2313" y="1804"/>
                  <a:pt x="2230" y="1621"/>
                  <a:pt x="2251" y="1448"/>
                </a:cubicBezTo>
                <a:cubicBezTo>
                  <a:pt x="2262" y="1347"/>
                  <a:pt x="2309" y="1252"/>
                  <a:pt x="2343" y="1155"/>
                </a:cubicBezTo>
                <a:cubicBezTo>
                  <a:pt x="2382" y="1045"/>
                  <a:pt x="2405" y="934"/>
                  <a:pt x="2419" y="820"/>
                </a:cubicBezTo>
                <a:cubicBezTo>
                  <a:pt x="2458" y="497"/>
                  <a:pt x="2247" y="189"/>
                  <a:pt x="1896" y="61"/>
                </a:cubicBezTo>
                <a:cubicBezTo>
                  <a:pt x="1789" y="21"/>
                  <a:pt x="1674" y="0"/>
                  <a:pt x="1557" y="0"/>
                </a:cubicBezTo>
              </a:path>
            </a:pathLst>
          </a:custGeom>
          <a:solidFill>
            <a:schemeClr val="accent1">
              <a:alpha val="17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837565" y="565150"/>
            <a:ext cx="2129790" cy="1081405"/>
          </a:xfrm>
        </p:spPr>
        <p:txBody>
          <a:bodyPr wrap="square" anchor="ctr" anchorCtr="0">
            <a:normAutofit/>
          </a:bodyPr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0" r="27352"/>
          <a:stretch>
            <a:fillRect/>
          </a:stretch>
        </p:blipFill>
        <p:spPr>
          <a:xfrm>
            <a:off x="1198245" y="2017395"/>
            <a:ext cx="3556000" cy="483171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"/>
          <p:cNvSpPr/>
          <p:nvPr userDrawn="1">
            <p:custDataLst>
              <p:tags r:id="rId2"/>
            </p:custDataLst>
          </p:nvPr>
        </p:nvSpPr>
        <p:spPr bwMode="auto">
          <a:xfrm rot="6240000" flipH="1">
            <a:off x="1155700" y="2376170"/>
            <a:ext cx="2943225" cy="3514725"/>
          </a:xfrm>
          <a:custGeom>
            <a:avLst/>
            <a:gdLst>
              <a:gd name="connsiteX0" fmla="*/ 4417 w 6611"/>
              <a:gd name="connsiteY0" fmla="*/ 31 h 6706"/>
              <a:gd name="connsiteX1" fmla="*/ 3525 w 6611"/>
              <a:gd name="connsiteY1" fmla="*/ 35 h 6706"/>
              <a:gd name="connsiteX2" fmla="*/ 1943 w 6611"/>
              <a:gd name="connsiteY2" fmla="*/ 444 h 6706"/>
              <a:gd name="connsiteX3" fmla="*/ 850 w 6611"/>
              <a:gd name="connsiteY3" fmla="*/ 1131 h 6706"/>
              <a:gd name="connsiteX4" fmla="*/ 7 w 6611"/>
              <a:gd name="connsiteY4" fmla="*/ 2491 h 6706"/>
              <a:gd name="connsiteX5" fmla="*/ 211 w 6611"/>
              <a:gd name="connsiteY5" fmla="*/ 4826 h 6706"/>
              <a:gd name="connsiteX6" fmla="*/ 752 w 6611"/>
              <a:gd name="connsiteY6" fmla="*/ 5937 h 6706"/>
              <a:gd name="connsiteX7" fmla="*/ 1926 w 6611"/>
              <a:gd name="connsiteY7" fmla="*/ 6575 h 6706"/>
              <a:gd name="connsiteX8" fmla="*/ 4060 w 6611"/>
              <a:gd name="connsiteY8" fmla="*/ 6611 h 6706"/>
              <a:gd name="connsiteX9" fmla="*/ 5547 w 6611"/>
              <a:gd name="connsiteY9" fmla="*/ 5965 h 6706"/>
              <a:gd name="connsiteX10" fmla="*/ 6120 w 6611"/>
              <a:gd name="connsiteY10" fmla="*/ 5119 h 6706"/>
              <a:gd name="connsiteX11" fmla="*/ 6193 w 6611"/>
              <a:gd name="connsiteY11" fmla="*/ 4057 h 6706"/>
              <a:gd name="connsiteX12" fmla="*/ 6398 w 6611"/>
              <a:gd name="connsiteY12" fmla="*/ 3222 h 6706"/>
              <a:gd name="connsiteX13" fmla="*/ 6599 w 6611"/>
              <a:gd name="connsiteY13" fmla="*/ 2281 h 6706"/>
              <a:gd name="connsiteX14" fmla="*/ 5278 w 6611"/>
              <a:gd name="connsiteY14" fmla="*/ 246 h 6706"/>
              <a:gd name="connsiteX15" fmla="*/ 4417 w 6611"/>
              <a:gd name="connsiteY15" fmla="*/ 31 h 6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0" t="0" r="r" b="b"/>
            <a:pathLst>
              <a:path w="6612" h="6706">
                <a:moveTo>
                  <a:pt x="4417" y="31"/>
                </a:moveTo>
                <a:cubicBezTo>
                  <a:pt x="4275" y="12"/>
                  <a:pt x="4045" y="-31"/>
                  <a:pt x="3525" y="35"/>
                </a:cubicBezTo>
                <a:cubicBezTo>
                  <a:pt x="3006" y="101"/>
                  <a:pt x="2368" y="252"/>
                  <a:pt x="1943" y="444"/>
                </a:cubicBezTo>
                <a:cubicBezTo>
                  <a:pt x="1518" y="636"/>
                  <a:pt x="1206" y="810"/>
                  <a:pt x="850" y="1131"/>
                </a:cubicBezTo>
                <a:cubicBezTo>
                  <a:pt x="494" y="1452"/>
                  <a:pt x="28" y="1938"/>
                  <a:pt x="7" y="2491"/>
                </a:cubicBezTo>
                <a:cubicBezTo>
                  <a:pt x="-27" y="3362"/>
                  <a:pt x="58" y="4271"/>
                  <a:pt x="211" y="4826"/>
                </a:cubicBezTo>
                <a:cubicBezTo>
                  <a:pt x="364" y="5381"/>
                  <a:pt x="482" y="5677"/>
                  <a:pt x="752" y="5937"/>
                </a:cubicBezTo>
                <a:cubicBezTo>
                  <a:pt x="1022" y="6197"/>
                  <a:pt x="1328" y="6417"/>
                  <a:pt x="1926" y="6575"/>
                </a:cubicBezTo>
                <a:cubicBezTo>
                  <a:pt x="2524" y="6733"/>
                  <a:pt x="3366" y="6751"/>
                  <a:pt x="4060" y="6611"/>
                </a:cubicBezTo>
                <a:cubicBezTo>
                  <a:pt x="4755" y="6471"/>
                  <a:pt x="5352" y="6115"/>
                  <a:pt x="5547" y="5965"/>
                </a:cubicBezTo>
                <a:cubicBezTo>
                  <a:pt x="5742" y="5815"/>
                  <a:pt x="6019" y="5562"/>
                  <a:pt x="6120" y="5119"/>
                </a:cubicBezTo>
                <a:cubicBezTo>
                  <a:pt x="6221" y="4677"/>
                  <a:pt x="6140" y="4535"/>
                  <a:pt x="6193" y="4057"/>
                </a:cubicBezTo>
                <a:cubicBezTo>
                  <a:pt x="6221" y="3778"/>
                  <a:pt x="6310" y="3490"/>
                  <a:pt x="6398" y="3222"/>
                </a:cubicBezTo>
                <a:cubicBezTo>
                  <a:pt x="6538" y="2812"/>
                  <a:pt x="6563" y="2596"/>
                  <a:pt x="6599" y="2281"/>
                </a:cubicBezTo>
                <a:cubicBezTo>
                  <a:pt x="6700" y="1390"/>
                  <a:pt x="6184" y="599"/>
                  <a:pt x="5278" y="246"/>
                </a:cubicBezTo>
                <a:cubicBezTo>
                  <a:pt x="5003" y="136"/>
                  <a:pt x="4559" y="50"/>
                  <a:pt x="4417" y="31"/>
                </a:cubicBezTo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微软雅黑" panose="020B0503020204020204" charset="-122"/>
            </a:endParaRPr>
          </a:p>
        </p:txBody>
      </p:sp>
      <p:pic>
        <p:nvPicPr>
          <p:cNvPr id="7" name="图片 6" descr="D:\工作文件\临时素材\无人机5资源-1@600x-8.png无人机5资源-1@600x-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rcRect l="150" r="150"/>
          <a:stretch>
            <a:fillRect/>
          </a:stretch>
        </p:blipFill>
        <p:spPr>
          <a:xfrm>
            <a:off x="869950" y="1550035"/>
            <a:ext cx="3757930" cy="32626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461000" y="3408045"/>
            <a:ext cx="5892800" cy="1761490"/>
          </a:xfrm>
        </p:spPr>
        <p:txBody>
          <a:bodyPr wrap="square" lIns="0" tIns="0" rIns="0" bIns="0" anchor="t" anchorCtr="0">
            <a:normAutofit/>
          </a:bodyPr>
          <a:lstStyle>
            <a:lvl1pPr algn="l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5461000" y="2364740"/>
            <a:ext cx="5892800" cy="960120"/>
          </a:xfrm>
          <a:prstGeom prst="roundRect">
            <a:avLst>
              <a:gd name="adj" fmla="val 0"/>
            </a:avLst>
          </a:prstGeom>
          <a:noFill/>
        </p:spPr>
        <p:txBody>
          <a:bodyPr wrap="square" anchor="b" anchorCtr="0">
            <a:noAutofit/>
          </a:bodyPr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buNone/>
              <a:defRPr sz="4800" b="1" u="none" strike="noStrike" kern="1200" cap="none" spc="100" normalizeH="0">
                <a:solidFill>
                  <a:schemeClr val="accent1"/>
                </a:solidFill>
                <a:uFillTx/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4"/>
            <p:custDataLst>
              <p:tags r:id="rId7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15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6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325" y="1276350"/>
            <a:ext cx="5324475" cy="49012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276350"/>
            <a:ext cx="5322600" cy="49012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326" y="1276350"/>
            <a:ext cx="5302250" cy="463385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326" y="2061275"/>
            <a:ext cx="5302250" cy="4128388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276350"/>
            <a:ext cx="5329238" cy="463385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2061275"/>
            <a:ext cx="5329238" cy="4128388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325" y="360000"/>
            <a:ext cx="10806113" cy="581760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325" y="1296000"/>
            <a:ext cx="10806113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6217227" y="854899"/>
            <a:ext cx="5597566" cy="5917440"/>
          </a:xfrm>
          <a:custGeom>
            <a:avLst/>
            <a:gdLst>
              <a:gd name="connsiteX0" fmla="*/ 3604196 w 5597566"/>
              <a:gd name="connsiteY0" fmla="*/ 127 h 5917440"/>
              <a:gd name="connsiteX1" fmla="*/ 5020674 w 5597566"/>
              <a:gd name="connsiteY1" fmla="*/ 776538 h 5917440"/>
              <a:gd name="connsiteX2" fmla="*/ 5376373 w 5597566"/>
              <a:gd name="connsiteY2" fmla="*/ 1444944 h 5917440"/>
              <a:gd name="connsiteX3" fmla="*/ 5557177 w 5597566"/>
              <a:gd name="connsiteY3" fmla="*/ 2184215 h 5917440"/>
              <a:gd name="connsiteX4" fmla="*/ 5545132 w 5597566"/>
              <a:gd name="connsiteY4" fmla="*/ 3578297 h 5917440"/>
              <a:gd name="connsiteX5" fmla="*/ 5202018 w 5597566"/>
              <a:gd name="connsiteY5" fmla="*/ 4624938 h 5917440"/>
              <a:gd name="connsiteX6" fmla="*/ 4250176 w 5597566"/>
              <a:gd name="connsiteY6" fmla="*/ 5603523 h 5917440"/>
              <a:gd name="connsiteX7" fmla="*/ 2275095 w 5597566"/>
              <a:gd name="connsiteY7" fmla="*/ 5916586 h 5917440"/>
              <a:gd name="connsiteX8" fmla="*/ 1243715 w 5597566"/>
              <a:gd name="connsiteY8" fmla="*/ 5698027 h 5917440"/>
              <a:gd name="connsiteX9" fmla="*/ 473239 w 5597566"/>
              <a:gd name="connsiteY9" fmla="*/ 4857811 h 5917440"/>
              <a:gd name="connsiteX10" fmla="*/ 2965 w 5597566"/>
              <a:gd name="connsiteY10" fmla="*/ 3098601 h 5917440"/>
              <a:gd name="connsiteX11" fmla="*/ 230813 w 5597566"/>
              <a:gd name="connsiteY11" fmla="*/ 1734249 h 5917440"/>
              <a:gd name="connsiteX12" fmla="*/ 812883 w 5597566"/>
              <a:gd name="connsiteY12" fmla="*/ 1085274 h 5917440"/>
              <a:gd name="connsiteX13" fmla="*/ 1676967 w 5597566"/>
              <a:gd name="connsiteY13" fmla="*/ 805643 h 5917440"/>
              <a:gd name="connsiteX14" fmla="*/ 2325887 w 5597566"/>
              <a:gd name="connsiteY14" fmla="*/ 463589 h 5917440"/>
              <a:gd name="connsiteX15" fmla="*/ 3063384 w 5597566"/>
              <a:gd name="connsiteY15" fmla="*/ 102968 h 5917440"/>
              <a:gd name="connsiteX16" fmla="*/ 3604196 w 5597566"/>
              <a:gd name="connsiteY16" fmla="*/ 127 h 591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597566" h="5917440">
                <a:moveTo>
                  <a:pt x="3604196" y="127"/>
                </a:moveTo>
                <a:cubicBezTo>
                  <a:pt x="4143157" y="-6764"/>
                  <a:pt x="4661253" y="268656"/>
                  <a:pt x="5020674" y="776538"/>
                </a:cubicBezTo>
                <a:cubicBezTo>
                  <a:pt x="5168497" y="981494"/>
                  <a:pt x="5331334" y="1331311"/>
                  <a:pt x="5376373" y="1444944"/>
                </a:cubicBezTo>
                <a:cubicBezTo>
                  <a:pt x="5421411" y="1558578"/>
                  <a:pt x="5504481" y="1740109"/>
                  <a:pt x="5557177" y="2184215"/>
                </a:cubicBezTo>
                <a:cubicBezTo>
                  <a:pt x="5609665" y="2627494"/>
                  <a:pt x="5616351" y="3186831"/>
                  <a:pt x="5545132" y="3578297"/>
                </a:cubicBezTo>
                <a:cubicBezTo>
                  <a:pt x="5473912" y="3969764"/>
                  <a:pt x="5394269" y="4263968"/>
                  <a:pt x="5202018" y="4624938"/>
                </a:cubicBezTo>
                <a:cubicBezTo>
                  <a:pt x="5009767" y="4985909"/>
                  <a:pt x="4703629" y="5471999"/>
                  <a:pt x="4250176" y="5603523"/>
                </a:cubicBezTo>
                <a:cubicBezTo>
                  <a:pt x="3536157" y="5811445"/>
                  <a:pt x="2766119" y="5928695"/>
                  <a:pt x="2275095" y="5916586"/>
                </a:cubicBezTo>
                <a:cubicBezTo>
                  <a:pt x="1784072" y="5904476"/>
                  <a:pt x="1514679" y="5867884"/>
                  <a:pt x="1243715" y="5698027"/>
                </a:cubicBezTo>
                <a:cubicBezTo>
                  <a:pt x="972750" y="5528171"/>
                  <a:pt x="727468" y="5320256"/>
                  <a:pt x="473239" y="4857811"/>
                </a:cubicBezTo>
                <a:cubicBezTo>
                  <a:pt x="219012" y="4395366"/>
                  <a:pt x="30316" y="3702028"/>
                  <a:pt x="2965" y="3098601"/>
                </a:cubicBezTo>
                <a:cubicBezTo>
                  <a:pt x="-24592" y="2494347"/>
                  <a:pt x="146889" y="1926640"/>
                  <a:pt x="230813" y="1734249"/>
                </a:cubicBezTo>
                <a:cubicBezTo>
                  <a:pt x="314738" y="1541857"/>
                  <a:pt x="467003" y="1260322"/>
                  <a:pt x="812883" y="1085274"/>
                </a:cubicBezTo>
                <a:cubicBezTo>
                  <a:pt x="1157935" y="910432"/>
                  <a:pt x="1292205" y="948179"/>
                  <a:pt x="1676967" y="805643"/>
                </a:cubicBezTo>
                <a:cubicBezTo>
                  <a:pt x="1902150" y="724878"/>
                  <a:pt x="2122194" y="591756"/>
                  <a:pt x="2325887" y="463589"/>
                </a:cubicBezTo>
                <a:cubicBezTo>
                  <a:pt x="2636399" y="263066"/>
                  <a:pt x="2810049" y="197787"/>
                  <a:pt x="3063384" y="102968"/>
                </a:cubicBezTo>
                <a:cubicBezTo>
                  <a:pt x="3242571" y="36089"/>
                  <a:pt x="3424543" y="2424"/>
                  <a:pt x="3604196" y="127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6" t="-1" r="15418" b="631"/>
          <a:stretch>
            <a:fillRect/>
          </a:stretch>
        </p:blipFill>
        <p:spPr>
          <a:xfrm>
            <a:off x="5990590" y="2422525"/>
            <a:ext cx="5417185" cy="44323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695325" y="1304926"/>
            <a:ext cx="5400675" cy="2152650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02000" y="3740785"/>
            <a:ext cx="2880000" cy="579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8" Type="http://schemas.openxmlformats.org/officeDocument/2006/relationships/theme" Target="../theme/theme3.xml"/><Relationship Id="rId17" Type="http://schemas.openxmlformats.org/officeDocument/2006/relationships/tags" Target="../tags/tag136.xml"/><Relationship Id="rId16" Type="http://schemas.openxmlformats.org/officeDocument/2006/relationships/tags" Target="../tags/tag135.xml"/><Relationship Id="rId15" Type="http://schemas.openxmlformats.org/officeDocument/2006/relationships/tags" Target="../tags/tag134.xml"/><Relationship Id="rId14" Type="http://schemas.openxmlformats.org/officeDocument/2006/relationships/tags" Target="../tags/tag133.xml"/><Relationship Id="rId13" Type="http://schemas.openxmlformats.org/officeDocument/2006/relationships/tags" Target="../tags/tag132.xml"/><Relationship Id="rId12" Type="http://schemas.openxmlformats.org/officeDocument/2006/relationships/tags" Target="../tags/tag131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95325" y="1283335"/>
            <a:ext cx="10801350" cy="489458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95325" y="6356350"/>
            <a:ext cx="2886075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56350"/>
            <a:ext cx="2884200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95325" y="1283335"/>
            <a:ext cx="10801350" cy="489458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95325" y="6356350"/>
            <a:ext cx="2886075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56350"/>
            <a:ext cx="2884200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4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46.xml"/><Relationship Id="rId8" Type="http://schemas.openxmlformats.org/officeDocument/2006/relationships/image" Target="../media/image11.png"/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18.xml"/><Relationship Id="rId11" Type="http://schemas.openxmlformats.org/officeDocument/2006/relationships/tags" Target="../tags/tag147.xml"/><Relationship Id="rId10" Type="http://schemas.openxmlformats.org/officeDocument/2006/relationships/image" Target="../media/image12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148.xml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57.xml"/><Relationship Id="rId8" Type="http://schemas.openxmlformats.org/officeDocument/2006/relationships/tags" Target="../tags/tag156.xml"/><Relationship Id="rId7" Type="http://schemas.openxmlformats.org/officeDocument/2006/relationships/tags" Target="../tags/tag155.xml"/><Relationship Id="rId6" Type="http://schemas.openxmlformats.org/officeDocument/2006/relationships/tags" Target="../tags/tag154.xml"/><Relationship Id="rId5" Type="http://schemas.openxmlformats.org/officeDocument/2006/relationships/tags" Target="../tags/tag153.xml"/><Relationship Id="rId4" Type="http://schemas.openxmlformats.org/officeDocument/2006/relationships/tags" Target="../tags/tag152.xml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4.png"/><Relationship Id="rId10" Type="http://schemas.openxmlformats.org/officeDocument/2006/relationships/tags" Target="../tags/tag158.xml"/><Relationship Id="rId1" Type="http://schemas.openxmlformats.org/officeDocument/2006/relationships/tags" Target="../tags/tag149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tags" Target="../tags/tag159.xml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tags" Target="../tags/tag16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69.xml"/><Relationship Id="rId8" Type="http://schemas.openxmlformats.org/officeDocument/2006/relationships/tags" Target="../tags/tag168.xml"/><Relationship Id="rId7" Type="http://schemas.openxmlformats.org/officeDocument/2006/relationships/tags" Target="../tags/tag167.xml"/><Relationship Id="rId6" Type="http://schemas.openxmlformats.org/officeDocument/2006/relationships/tags" Target="../tags/tag166.xml"/><Relationship Id="rId5" Type="http://schemas.openxmlformats.org/officeDocument/2006/relationships/tags" Target="../tags/tag165.xml"/><Relationship Id="rId4" Type="http://schemas.openxmlformats.org/officeDocument/2006/relationships/tags" Target="../tags/tag164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171.xml"/><Relationship Id="rId10" Type="http://schemas.openxmlformats.org/officeDocument/2006/relationships/tags" Target="../tags/tag170.xml"/><Relationship Id="rId1" Type="http://schemas.openxmlformats.org/officeDocument/2006/relationships/tags" Target="../tags/tag161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tags" Target="../tags/tag172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3.xml"/><Relationship Id="rId2" Type="http://schemas.openxmlformats.org/officeDocument/2006/relationships/tags" Target="../tags/tag177.xml"/><Relationship Id="rId1" Type="http://schemas.openxmlformats.org/officeDocument/2006/relationships/tags" Target="../tags/tag17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86.xml"/><Relationship Id="rId8" Type="http://schemas.openxmlformats.org/officeDocument/2006/relationships/tags" Target="../tags/tag185.xml"/><Relationship Id="rId7" Type="http://schemas.openxmlformats.org/officeDocument/2006/relationships/tags" Target="../tags/tag184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187.xml"/><Relationship Id="rId1" Type="http://schemas.openxmlformats.org/officeDocument/2006/relationships/tags" Target="../tags/tag1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21004" y="2009775"/>
            <a:ext cx="5393055" cy="721638"/>
          </a:xfrm>
        </p:spPr>
        <p:txBody>
          <a:bodyPr wrap="square">
            <a:noAutofit/>
          </a:bodyPr>
          <a:lstStyle/>
          <a:p>
            <a:pPr algn="ctr"/>
            <a:r>
              <a:rPr lang="en-US" altLang="zh-CN" sz="6000" dirty="0"/>
              <a:t>ret2dlresolve</a:t>
            </a:r>
            <a:br>
              <a:rPr lang="en-US" altLang="zh-CN" sz="6000" dirty="0"/>
            </a:br>
            <a:r>
              <a:rPr lang="en-US" altLang="zh-CN" sz="2800" dirty="0"/>
              <a:t>                          ——</a:t>
            </a:r>
            <a:r>
              <a:rPr lang="en-US" altLang="zh-CN" sz="2800" dirty="0" err="1"/>
              <a:t>linkmap</a:t>
            </a:r>
            <a:endParaRPr lang="en-US" altLang="zh-CN" sz="2800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1677035" y="4848225"/>
            <a:ext cx="2880995" cy="580390"/>
          </a:xfrm>
        </p:spPr>
        <p:txBody>
          <a:bodyPr/>
          <a:lstStyle/>
          <a:p>
            <a:r>
              <a:rPr lang="zh-CN" altLang="en-US" dirty="0"/>
              <a:t>汇报人：张珈豪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1704340" y="118110"/>
          <a:ext cx="2103120" cy="30435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</a:tblGrid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LOAD: </a:t>
                      </a:r>
                      <a:r>
                        <a:rPr lang="en-US" altLang="zh-CN" sz="1000" b="1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R</a:t>
                      </a:r>
                      <a:endParaRPr lang="en-US" altLang="zh-CN" sz="1000" b="1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(ELF Header)</a:t>
                      </a:r>
                      <a:endParaRPr lang="zh-CN" altLang="en-US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PHDR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程序头表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INTERP</a:t>
                      </a:r>
                      <a:endParaRPr lang="en-US" altLang="zh-CN" sz="1000" b="1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.interp</a:t>
                      </a:r>
                      <a:endParaRPr lang="en-US" altLang="zh-CN" sz="1000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解释器字符串</a:t>
                      </a: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2BE"/>
                    </a:solidFill>
                  </a:tcPr>
                </a:tc>
              </a:tr>
              <a:tr h="2355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NOTE\GNU_PROPERTY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.note(.gnu)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  <a:sym typeface="+mn-ea"/>
                        </a:rPr>
                        <a:t>.gnu.hash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.dynsym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动态链接符号表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.dynstr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动态链接字符串表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355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.gnu.version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.rela.dyn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数据动态链接重定位表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, 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对应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.got)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.rela.plt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过程动态链接重定位表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, 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对应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.got.plt)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/>
          <p:nvPr>
            <p:custDataLst>
              <p:tags r:id="rId2"/>
            </p:custDataLst>
          </p:nvPr>
        </p:nvGraphicFramePr>
        <p:xfrm>
          <a:off x="73025" y="5333365"/>
          <a:ext cx="1564005" cy="14465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64005"/>
              </a:tblGrid>
              <a:tr h="105029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GNU_RELRO: </a:t>
                      </a:r>
                      <a:r>
                        <a:rPr lang="en-US" altLang="zh-CN" sz="1000" b="1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R</a:t>
                      </a:r>
                      <a:endParaRPr lang="en-US" altLang="zh-CN" sz="1000" b="1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>
                          <a:solidFill>
                            <a:schemeClr val="accent6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(No RELRO)</a:t>
                      </a:r>
                      <a:endParaRPr lang="en-US" altLang="zh-CN" sz="1000" b="0">
                        <a:solidFill>
                          <a:schemeClr val="accent6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.init_array</a:t>
                      </a:r>
                      <a:endParaRPr lang="en-US" altLang="zh-CN" sz="1000" b="0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(Partial RELRO)</a:t>
                      </a:r>
                      <a:endParaRPr lang="en-US" altLang="zh-CN" sz="1000" b="0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.got[3]</a:t>
                      </a:r>
                      <a:endParaRPr lang="en-US" altLang="zh-CN" sz="1000" b="0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(Full RELRO)</a:t>
                      </a:r>
                      <a:endParaRPr lang="en-US" altLang="zh-CN" sz="1000" b="0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solidFill>
                      <a:srgbClr val="BEEFEB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GNU_STACK: </a:t>
                      </a:r>
                      <a:r>
                        <a:rPr lang="en-US" altLang="zh-CN" sz="1000" b="1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RWX/RW</a:t>
                      </a:r>
                      <a:endParaRPr lang="en-US" altLang="zh-CN" sz="1000" b="1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>
                          <a:solidFill>
                            <a:schemeClr val="accent6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(NX)</a:t>
                      </a:r>
                      <a:endParaRPr lang="en-US" altLang="zh-CN" sz="1000" b="0">
                        <a:solidFill>
                          <a:schemeClr val="accent6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034280" y="849630"/>
            <a:ext cx="5346065" cy="4947285"/>
          </a:xfrm>
          <a:prstGeom prst="rect">
            <a:avLst/>
          </a:prstGeom>
        </p:spPr>
      </p:pic>
      <p:graphicFrame>
        <p:nvGraphicFramePr>
          <p:cNvPr id="5" name="表格 4"/>
          <p:cNvGraphicFramePr/>
          <p:nvPr/>
        </p:nvGraphicFramePr>
        <p:xfrm>
          <a:off x="1704340" y="5339715"/>
          <a:ext cx="210312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</a:tblGrid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LOAD: </a:t>
                      </a:r>
                      <a:r>
                        <a:rPr lang="en-US" altLang="zh-CN" sz="1000" b="1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RW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 b="0">
                          <a:latin typeface="华文楷体" panose="02010600040101010101" charset="-122"/>
                          <a:ea typeface="华文楷体" panose="02010600040101010101" charset="-122"/>
                        </a:rPr>
                        <a:t>(.init_array</a:t>
                      </a:r>
                      <a:r>
                        <a:rPr lang="zh-CN" altLang="en-US" sz="1000" b="0">
                          <a:latin typeface="华文楷体" panose="02010600040101010101" charset="-122"/>
                          <a:ea typeface="华文楷体" panose="02010600040101010101" charset="-122"/>
                        </a:rPr>
                        <a:t>、</a:t>
                      </a:r>
                      <a:r>
                        <a:rPr lang="en-US" altLang="zh-CN" sz="1000" b="0">
                          <a:latin typeface="华文楷体" panose="02010600040101010101" charset="-122"/>
                          <a:ea typeface="华文楷体" panose="02010600040101010101" charset="-122"/>
                        </a:rPr>
                        <a:t>.fini_array)</a:t>
                      </a:r>
                      <a:endParaRPr lang="en-US" altLang="zh-CN" sz="1000" b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.dynamic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动态链接表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.got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数据全局偏移表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.got.plt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过程全局偏移表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.data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、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.bss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/>
        </p:nvGraphicFramePr>
        <p:xfrm>
          <a:off x="1704340" y="4511675"/>
          <a:ext cx="2103120" cy="82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</a:tblGrid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LOAD: </a:t>
                      </a:r>
                      <a:r>
                        <a:rPr lang="en-US" altLang="zh-CN" sz="1000" b="1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R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.rodata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  <a:sym typeface="+mn-ea"/>
                        </a:rPr>
                        <a:t>GNU_EH_FRAME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  <a:sym typeface="+mn-ea"/>
                        </a:rPr>
                        <a:t>.eh_frame_hdr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  <a:sym typeface="+mn-ea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ECC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  <a:sym typeface="+mn-ea"/>
                        </a:rPr>
                        <a:t>.eh_frame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/>
          <p:nvPr/>
        </p:nvGraphicFramePr>
        <p:xfrm>
          <a:off x="1704340" y="3161665"/>
          <a:ext cx="2103120" cy="13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</a:tblGrid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LOAD: </a:t>
                      </a:r>
                      <a:r>
                        <a:rPr lang="en-US" altLang="zh-CN" sz="1000" b="1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RE</a:t>
                      </a:r>
                      <a:endParaRPr lang="en-US" altLang="zh-CN" sz="1000" b="1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.init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.plt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解析器桩及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plt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备用桩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.plt.sec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(plt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桩代码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.text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.finit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5104765" y="2778125"/>
            <a:ext cx="5207000" cy="107315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097145" y="2771140"/>
            <a:ext cx="5213985" cy="25019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097145" y="3013710"/>
            <a:ext cx="5214620" cy="29718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096510" y="3310890"/>
            <a:ext cx="5214620" cy="26606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096510" y="3576955"/>
            <a:ext cx="5214620" cy="26606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096510" y="2068195"/>
            <a:ext cx="5214620" cy="71183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637030" y="392430"/>
            <a:ext cx="2240915" cy="83629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5096510" y="5194300"/>
            <a:ext cx="5214620" cy="55626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4280" y="5867400"/>
            <a:ext cx="3272155" cy="807720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5261610" y="5339715"/>
            <a:ext cx="4023360" cy="1227455"/>
            <a:chOff x="8286" y="8409"/>
            <a:chExt cx="6336" cy="1933"/>
          </a:xfrm>
        </p:grpSpPr>
        <p:sp>
          <p:nvSpPr>
            <p:cNvPr id="25" name="矩形 24"/>
            <p:cNvSpPr/>
            <p:nvPr/>
          </p:nvSpPr>
          <p:spPr>
            <a:xfrm>
              <a:off x="14216" y="8409"/>
              <a:ext cx="407" cy="22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8286" y="10146"/>
              <a:ext cx="2268" cy="197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标题 16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2740" y="118110"/>
            <a:ext cx="980440" cy="597535"/>
          </a:xfrm>
        </p:spPr>
        <p:txBody>
          <a:bodyPr>
            <a:normAutofit/>
          </a:bodyPr>
          <a:lstStyle/>
          <a:p>
            <a:r>
              <a:rPr lang="en-US" altLang="zh-CN" sz="2800" dirty="0" err="1"/>
              <a:t>load</a:t>
            </a:r>
            <a:endParaRPr lang="en-US" altLang="zh-CN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8" grpId="1" animBg="1"/>
      <p:bldP spid="8" grpId="2" bldLvl="0" animBg="1"/>
      <p:bldP spid="9" grpId="0" bldLvl="0" animBg="1"/>
      <p:bldP spid="9" grpId="1" animBg="1"/>
      <p:bldP spid="9" grpId="2" bldLvl="0" animBg="1"/>
      <p:bldP spid="10" grpId="0" bldLvl="0" animBg="1"/>
      <p:bldP spid="10" grpId="1" animBg="1"/>
      <p:bldP spid="10" grpId="2" bldLvl="0" animBg="1"/>
      <p:bldP spid="12" grpId="0" bldLvl="0" animBg="1"/>
      <p:bldP spid="12" grpId="1" animBg="1"/>
      <p:bldP spid="12" grpId="2" bldLvl="0" animBg="1"/>
      <p:bldP spid="13" grpId="0" bldLvl="0" animBg="1"/>
      <p:bldP spid="13" grpId="1" animBg="1"/>
      <p:bldP spid="13" grpId="2" bldLvl="0" animBg="1"/>
      <p:bldP spid="14" grpId="0" bldLvl="0" animBg="1"/>
      <p:bldP spid="14" grpId="1" animBg="1"/>
      <p:bldP spid="14" grpId="2" bldLvl="0" animBg="1"/>
      <p:bldP spid="15" grpId="0" bldLvl="0" animBg="1"/>
      <p:bldP spid="15" grpId="1" animBg="1"/>
      <p:bldP spid="15" grpId="2" bldLvl="0" animBg="1"/>
      <p:bldP spid="23" grpId="0" bldLvl="0" animBg="1"/>
      <p:bldP spid="23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0090" y="297815"/>
            <a:ext cx="4188460" cy="970915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4696460"/>
            <a:ext cx="4211955" cy="1497965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090" y="2628900"/>
            <a:ext cx="4228465" cy="769620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0090" y="1441450"/>
            <a:ext cx="4228465" cy="89725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94970" y="255905"/>
            <a:ext cx="1693545" cy="540385"/>
          </a:xfrm>
        </p:spPr>
        <p:txBody>
          <a:bodyPr/>
          <a:lstStyle/>
          <a:p>
            <a:r>
              <a:rPr lang="en-US" altLang="zh-CN" dirty="0" err="1">
                <a:sym typeface="+mn-ea"/>
              </a:rPr>
              <a:t>plt&amp;got</a:t>
            </a:r>
            <a:endParaRPr lang="zh-CN" altLang="en-US" dirty="0"/>
          </a:p>
        </p:txBody>
      </p:sp>
      <p:graphicFrame>
        <p:nvGraphicFramePr>
          <p:cNvPr id="11" name="表格 10"/>
          <p:cNvGraphicFramePr/>
          <p:nvPr/>
        </p:nvGraphicFramePr>
        <p:xfrm>
          <a:off x="642461" y="2121568"/>
          <a:ext cx="2103120" cy="361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</a:tblGrid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LOAD: </a:t>
                      </a:r>
                      <a:r>
                        <a:rPr lang="en-US" altLang="zh-CN" sz="1000" b="1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RE</a:t>
                      </a:r>
                      <a:endParaRPr lang="en-US" altLang="zh-CN" sz="1000" b="1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.init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.plt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解析器桩及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plt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备用桩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.plt.sec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(plt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桩代码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.text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.finit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LOAD: </a:t>
                      </a:r>
                      <a:r>
                        <a:rPr lang="en-US" altLang="zh-CN" sz="1000" b="1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R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.rodata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ECC5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  <a:sym typeface="+mn-ea"/>
                        </a:rPr>
                        <a:t>GNU_EH_FRAME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  <a:sym typeface="+mn-ea"/>
                        </a:rPr>
                        <a:t>.eh_frame_hdr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  <a:sym typeface="+mn-ea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ECC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  <a:sym typeface="+mn-ea"/>
                        </a:rPr>
                        <a:t>.eh_frame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ECC5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LOAD: </a:t>
                      </a:r>
                      <a:r>
                        <a:rPr lang="en-US" altLang="zh-CN" sz="1000" b="1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RW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 b="0">
                          <a:latin typeface="华文楷体" panose="02010600040101010101" charset="-122"/>
                          <a:ea typeface="华文楷体" panose="02010600040101010101" charset="-122"/>
                        </a:rPr>
                        <a:t>(.init_array</a:t>
                      </a:r>
                      <a:r>
                        <a:rPr lang="zh-CN" altLang="en-US" sz="1000" b="0">
                          <a:latin typeface="华文楷体" panose="02010600040101010101" charset="-122"/>
                          <a:ea typeface="华文楷体" panose="02010600040101010101" charset="-122"/>
                        </a:rPr>
                        <a:t>、</a:t>
                      </a:r>
                      <a:r>
                        <a:rPr lang="en-US" altLang="zh-CN" sz="1000" b="0">
                          <a:latin typeface="华文楷体" panose="02010600040101010101" charset="-122"/>
                          <a:ea typeface="华文楷体" panose="02010600040101010101" charset="-122"/>
                        </a:rPr>
                        <a:t>.fini_array)</a:t>
                      </a:r>
                      <a:endParaRPr lang="en-US" altLang="zh-CN" sz="1000" b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EEFEB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.dynamic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动态链接表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EEFEB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.got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数据全局偏移表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EEFEB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.got.plt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过程全局偏移表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EEFEB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.data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、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.bss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EEF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表格 16"/>
          <p:cNvGraphicFramePr/>
          <p:nvPr>
            <p:custDataLst>
              <p:tags r:id="rId6"/>
            </p:custDataLst>
          </p:nvPr>
        </p:nvGraphicFramePr>
        <p:xfrm>
          <a:off x="3854452" y="4426293"/>
          <a:ext cx="1527175" cy="1222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1310"/>
                <a:gridCol w="1205865"/>
              </a:tblGrid>
              <a:tr h="243840">
                <a:tc gridSpan="2">
                  <a:txBody>
                    <a:bodyPr/>
                    <a:lstStyle/>
                    <a:p>
                      <a:pPr algn="ctr">
                        <a:buClrTx/>
                        <a:buSz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.got.plt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[0]</a:t>
                      </a:r>
                      <a:endParaRPr lang="en-US" altLang="zh-CN"/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.dynamic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[1]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link_map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[2]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_dl_runtime_resolve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.plt[n+1]/func[n]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表格 18"/>
          <p:cNvGraphicFramePr/>
          <p:nvPr>
            <p:custDataLst>
              <p:tags r:id="rId7"/>
            </p:custDataLst>
          </p:nvPr>
        </p:nvGraphicFramePr>
        <p:xfrm>
          <a:off x="3854452" y="1358608"/>
          <a:ext cx="1527175" cy="152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1310"/>
                <a:gridCol w="1205865"/>
              </a:tblGrid>
              <a:tr h="243840">
                <a:tc gridSpan="2">
                  <a:txBody>
                    <a:bodyPr/>
                    <a:lstStyle/>
                    <a:p>
                      <a:pPr algn="ctr">
                        <a:buClrTx/>
                        <a:buSz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.plt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[0]</a:t>
                      </a:r>
                      <a:endParaRPr lang="en-US" altLang="zh-CN"/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push got[1];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jmp got[2];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push n;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jmp plt[0];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44800">
                <a:tc gridSpan="2"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.plt.sec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[n]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jmp got[n+3]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2790" y="3846195"/>
            <a:ext cx="4138930" cy="651510"/>
          </a:xfrm>
          <a:prstGeom prst="rect">
            <a:avLst/>
          </a:prstGeom>
        </p:spPr>
      </p:pic>
      <p:graphicFrame>
        <p:nvGraphicFramePr>
          <p:cNvPr id="8" name="表格 7"/>
          <p:cNvGraphicFramePr/>
          <p:nvPr/>
        </p:nvGraphicFramePr>
        <p:xfrm>
          <a:off x="642461" y="1322738"/>
          <a:ext cx="2103120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INTERP</a:t>
                      </a:r>
                      <a:endParaRPr lang="en-US" altLang="zh-CN" sz="1000" b="1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.interp</a:t>
                      </a:r>
                      <a:endParaRPr lang="en-US" altLang="zh-CN" sz="1000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解释器字符串</a:t>
                      </a: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2BE"/>
                    </a:solidFill>
                  </a:tcPr>
                </a:tc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7085965" y="4375150"/>
            <a:ext cx="3092450" cy="1174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肘形连接符 11"/>
          <p:cNvCxnSpPr/>
          <p:nvPr/>
        </p:nvCxnSpPr>
        <p:spPr>
          <a:xfrm rot="10800000">
            <a:off x="7116445" y="2690495"/>
            <a:ext cx="15875" cy="1741805"/>
          </a:xfrm>
          <a:prstGeom prst="bentConnector3">
            <a:avLst>
              <a:gd name="adj1" fmla="val 1600000"/>
            </a:avLst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7070090" y="2614295"/>
            <a:ext cx="2230755" cy="15621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3782062" y="2593048"/>
            <a:ext cx="1652270" cy="34480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073900" y="3062605"/>
            <a:ext cx="4147820" cy="16319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086600" y="5746115"/>
            <a:ext cx="4410710" cy="13208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3782062" y="5419433"/>
            <a:ext cx="1667510" cy="28194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7086600" y="1804035"/>
            <a:ext cx="4172585" cy="35115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070725" y="796290"/>
            <a:ext cx="4189095" cy="32131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4" name="表格 33"/>
          <p:cNvGraphicFramePr/>
          <p:nvPr>
            <p:custDataLst>
              <p:tags r:id="rId9"/>
            </p:custDataLst>
          </p:nvPr>
        </p:nvGraphicFramePr>
        <p:xfrm>
          <a:off x="3853817" y="3331553"/>
          <a:ext cx="1527810" cy="533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7810"/>
              </a:tblGrid>
              <a:tr h="2667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.text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call .plt.sec[n]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5" name="矩形 34"/>
          <p:cNvSpPr/>
          <p:nvPr/>
        </p:nvSpPr>
        <p:spPr>
          <a:xfrm>
            <a:off x="3797302" y="3550628"/>
            <a:ext cx="1652270" cy="36766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肘形连接符 35"/>
          <p:cNvCxnSpPr>
            <a:stCxn id="35" idx="1"/>
            <a:endCxn id="15" idx="1"/>
          </p:cNvCxnSpPr>
          <p:nvPr/>
        </p:nvCxnSpPr>
        <p:spPr>
          <a:xfrm rot="10800000">
            <a:off x="3782062" y="2765768"/>
            <a:ext cx="15240" cy="969010"/>
          </a:xfrm>
          <a:prstGeom prst="bentConnector3">
            <a:avLst>
              <a:gd name="adj1" fmla="val 1662500"/>
            </a:avLst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肘形连接符 36"/>
          <p:cNvCxnSpPr>
            <a:stCxn id="15" idx="3"/>
            <a:endCxn id="22" idx="3"/>
          </p:cNvCxnSpPr>
          <p:nvPr/>
        </p:nvCxnSpPr>
        <p:spPr>
          <a:xfrm>
            <a:off x="5434332" y="2765768"/>
            <a:ext cx="15240" cy="2794635"/>
          </a:xfrm>
          <a:prstGeom prst="bentConnector3">
            <a:avLst>
              <a:gd name="adj1" fmla="val 3920833"/>
            </a:avLst>
          </a:prstGeom>
          <a:ln w="6350" cap="flat" cmpd="sng" algn="ctr">
            <a:solidFill>
              <a:srgbClr val="FF000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肘形连接符 37"/>
          <p:cNvCxnSpPr>
            <a:stCxn id="16" idx="3"/>
            <a:endCxn id="20" idx="3"/>
          </p:cNvCxnSpPr>
          <p:nvPr/>
        </p:nvCxnSpPr>
        <p:spPr>
          <a:xfrm>
            <a:off x="11221720" y="3144520"/>
            <a:ext cx="275590" cy="2667635"/>
          </a:xfrm>
          <a:prstGeom prst="bentConnector3">
            <a:avLst>
              <a:gd name="adj1" fmla="val 186406"/>
            </a:avLst>
          </a:prstGeom>
          <a:ln w="6350" cap="flat" cmpd="sng" algn="ctr">
            <a:solidFill>
              <a:srgbClr val="FF000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肘形连接符 38"/>
          <p:cNvCxnSpPr>
            <a:stCxn id="20" idx="1"/>
            <a:endCxn id="41" idx="1"/>
          </p:cNvCxnSpPr>
          <p:nvPr/>
        </p:nvCxnSpPr>
        <p:spPr>
          <a:xfrm rot="10800000">
            <a:off x="7070090" y="1536065"/>
            <a:ext cx="16510" cy="4275455"/>
          </a:xfrm>
          <a:prstGeom prst="bentConnector3">
            <a:avLst>
              <a:gd name="adj1" fmla="val 2630769"/>
            </a:avLst>
          </a:prstGeom>
          <a:ln w="6350" cap="flat" cmpd="sng" algn="ctr">
            <a:solidFill>
              <a:srgbClr val="FF000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7070090" y="1407160"/>
            <a:ext cx="2326005" cy="25844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肘形连接符 43"/>
          <p:cNvCxnSpPr>
            <a:stCxn id="26" idx="1"/>
            <a:endCxn id="45" idx="1"/>
          </p:cNvCxnSpPr>
          <p:nvPr/>
        </p:nvCxnSpPr>
        <p:spPr>
          <a:xfrm rot="10800000">
            <a:off x="7070090" y="359410"/>
            <a:ext cx="16510" cy="1619885"/>
          </a:xfrm>
          <a:prstGeom prst="bentConnector3">
            <a:avLst>
              <a:gd name="adj1" fmla="val 3961538"/>
            </a:avLst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7070090" y="261620"/>
            <a:ext cx="2326005" cy="19685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肘形连接符 45"/>
          <p:cNvCxnSpPr>
            <a:stCxn id="22" idx="1"/>
            <a:endCxn id="47" idx="1"/>
          </p:cNvCxnSpPr>
          <p:nvPr/>
        </p:nvCxnSpPr>
        <p:spPr>
          <a:xfrm rot="10800000" flipH="1">
            <a:off x="3782062" y="2228558"/>
            <a:ext cx="15240" cy="3331845"/>
          </a:xfrm>
          <a:prstGeom prst="bentConnector3">
            <a:avLst>
              <a:gd name="adj1" fmla="val -2641666"/>
            </a:avLst>
          </a:prstGeom>
          <a:ln w="6350" cap="flat" cmpd="sng" algn="ctr">
            <a:solidFill>
              <a:srgbClr val="FF000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3797302" y="2029803"/>
            <a:ext cx="1652270" cy="3968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肘形连接符 47"/>
          <p:cNvCxnSpPr/>
          <p:nvPr/>
        </p:nvCxnSpPr>
        <p:spPr>
          <a:xfrm rot="16200000" flipV="1">
            <a:off x="3508377" y="1965668"/>
            <a:ext cx="553720" cy="4445"/>
          </a:xfrm>
          <a:prstGeom prst="bentConnector4">
            <a:avLst>
              <a:gd name="adj1" fmla="val 1318"/>
              <a:gd name="adj2" fmla="val 12678571"/>
            </a:avLst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矩形 48"/>
          <p:cNvSpPr/>
          <p:nvPr/>
        </p:nvSpPr>
        <p:spPr>
          <a:xfrm>
            <a:off x="3797302" y="1559268"/>
            <a:ext cx="1652270" cy="42037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3" name="肘形连接符 52"/>
          <p:cNvCxnSpPr/>
          <p:nvPr/>
        </p:nvCxnSpPr>
        <p:spPr>
          <a:xfrm>
            <a:off x="5449572" y="1769453"/>
            <a:ext cx="3175" cy="3347720"/>
          </a:xfrm>
          <a:prstGeom prst="bentConnector3">
            <a:avLst>
              <a:gd name="adj1" fmla="val 10220000"/>
            </a:avLst>
          </a:prstGeom>
          <a:ln w="6350" cap="flat" cmpd="sng" algn="ctr">
            <a:solidFill>
              <a:srgbClr val="FF000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3782062" y="4863173"/>
            <a:ext cx="1667510" cy="5080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肘形连接符 54"/>
          <p:cNvCxnSpPr/>
          <p:nvPr/>
        </p:nvCxnSpPr>
        <p:spPr>
          <a:xfrm flipH="1">
            <a:off x="10583545" y="956945"/>
            <a:ext cx="675640" cy="4556760"/>
          </a:xfrm>
          <a:prstGeom prst="bentConnector3">
            <a:avLst>
              <a:gd name="adj1" fmla="val -35244"/>
            </a:avLst>
          </a:prstGeom>
          <a:ln w="6350" cap="flat" cmpd="sng" algn="ctr">
            <a:solidFill>
              <a:srgbClr val="FF000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7085330" y="5280025"/>
            <a:ext cx="3498215" cy="46672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577056" y="4879373"/>
            <a:ext cx="2230755" cy="68707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8" name="肘形连接符 57"/>
          <p:cNvCxnSpPr>
            <a:stCxn id="16" idx="1"/>
            <a:endCxn id="41" idx="1"/>
          </p:cNvCxnSpPr>
          <p:nvPr/>
        </p:nvCxnSpPr>
        <p:spPr>
          <a:xfrm rot="10800000">
            <a:off x="7070090" y="1536700"/>
            <a:ext cx="3810" cy="1607820"/>
          </a:xfrm>
          <a:prstGeom prst="bentConnector3">
            <a:avLst>
              <a:gd name="adj1" fmla="val 11283333"/>
            </a:avLst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肘形连接符 58"/>
          <p:cNvCxnSpPr>
            <a:stCxn id="15" idx="1"/>
            <a:endCxn id="47" idx="1"/>
          </p:cNvCxnSpPr>
          <p:nvPr/>
        </p:nvCxnSpPr>
        <p:spPr>
          <a:xfrm rot="10800000" flipH="1">
            <a:off x="3782062" y="2228558"/>
            <a:ext cx="15240" cy="537210"/>
          </a:xfrm>
          <a:prstGeom prst="bentConnector3">
            <a:avLst>
              <a:gd name="adj1" fmla="val -2537500"/>
            </a:avLst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0" name="图片 5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48044" y="6302376"/>
            <a:ext cx="8392795" cy="476250"/>
          </a:xfrm>
          <a:prstGeom prst="rect">
            <a:avLst/>
          </a:prstGeom>
        </p:spPr>
      </p:pic>
      <p:cxnSp>
        <p:nvCxnSpPr>
          <p:cNvPr id="62" name="肘形连接符 61"/>
          <p:cNvCxnSpPr>
            <a:stCxn id="56" idx="1"/>
          </p:cNvCxnSpPr>
          <p:nvPr/>
        </p:nvCxnSpPr>
        <p:spPr>
          <a:xfrm rot="10800000" flipV="1">
            <a:off x="6431914" y="5513387"/>
            <a:ext cx="653416" cy="788353"/>
          </a:xfrm>
          <a:prstGeom prst="bentConnector2">
            <a:avLst/>
          </a:prstGeom>
          <a:ln w="6350" cap="flat" cmpd="sng" algn="ctr">
            <a:solidFill>
              <a:srgbClr val="FF000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肘形连接符 62"/>
          <p:cNvCxnSpPr>
            <a:stCxn id="54" idx="1"/>
          </p:cNvCxnSpPr>
          <p:nvPr/>
        </p:nvCxnSpPr>
        <p:spPr>
          <a:xfrm rot="10800000" flipV="1">
            <a:off x="3573144" y="5117173"/>
            <a:ext cx="208918" cy="1184568"/>
          </a:xfrm>
          <a:prstGeom prst="bentConnector2">
            <a:avLst/>
          </a:prstGeom>
          <a:ln w="6350" cap="flat" cmpd="sng" algn="ctr">
            <a:solidFill>
              <a:srgbClr val="FF000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肘形连接符 63"/>
          <p:cNvCxnSpPr>
            <a:stCxn id="29" idx="3"/>
          </p:cNvCxnSpPr>
          <p:nvPr/>
        </p:nvCxnSpPr>
        <p:spPr>
          <a:xfrm>
            <a:off x="11259820" y="956945"/>
            <a:ext cx="403860" cy="5315586"/>
          </a:xfrm>
          <a:prstGeom prst="bentConnector2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肘形连接符 65"/>
          <p:cNvCxnSpPr>
            <a:stCxn id="49" idx="3"/>
          </p:cNvCxnSpPr>
          <p:nvPr/>
        </p:nvCxnSpPr>
        <p:spPr>
          <a:xfrm>
            <a:off x="5449572" y="1769453"/>
            <a:ext cx="434821" cy="4532288"/>
          </a:xfrm>
          <a:prstGeom prst="bentConnector2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V="1">
            <a:off x="2745581" y="1055549"/>
            <a:ext cx="672679" cy="5037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3210593" y="602754"/>
            <a:ext cx="157204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Lazy binding</a:t>
            </a:r>
            <a:endParaRPr lang="en-US" altLang="zh-CN" dirty="0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algn="ctr"/>
            <a:r>
              <a:rPr lang="zh-CN" altLang="en-US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延迟绑定</a:t>
            </a:r>
            <a:endParaRPr lang="zh-CN" altLang="en-US" dirty="0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  <p:custDataLst>
      <p:tags r:id="rId1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9" grpId="1" animBg="1"/>
      <p:bldP spid="13" grpId="0" bldLvl="0" animBg="1"/>
      <p:bldP spid="13" grpId="1" animBg="1"/>
      <p:bldP spid="15" grpId="0" bldLvl="0" animBg="1"/>
      <p:bldP spid="15" grpId="1" animBg="1"/>
      <p:bldP spid="16" grpId="0" bldLvl="0" animBg="1"/>
      <p:bldP spid="16" grpId="1" animBg="1"/>
      <p:bldP spid="20" grpId="0" bldLvl="0" animBg="1"/>
      <p:bldP spid="20" grpId="1" animBg="1"/>
      <p:bldP spid="22" grpId="0" bldLvl="0" animBg="1"/>
      <p:bldP spid="22" grpId="1" animBg="1"/>
      <p:bldP spid="26" grpId="0" bldLvl="0" animBg="1"/>
      <p:bldP spid="26" grpId="1" animBg="1"/>
      <p:bldP spid="29" grpId="0" bldLvl="0" animBg="1"/>
      <p:bldP spid="29" grpId="1" animBg="1"/>
      <p:bldP spid="35" grpId="0" bldLvl="0" animBg="1"/>
      <p:bldP spid="35" grpId="1" animBg="1"/>
      <p:bldP spid="41" grpId="0" bldLvl="0" animBg="1"/>
      <p:bldP spid="41" grpId="1" animBg="1"/>
      <p:bldP spid="45" grpId="0" bldLvl="0" animBg="1"/>
      <p:bldP spid="45" grpId="1" animBg="1"/>
      <p:bldP spid="47" grpId="0" bldLvl="0" animBg="1"/>
      <p:bldP spid="47" grpId="1" animBg="1"/>
      <p:bldP spid="49" grpId="0" bldLvl="0" animBg="1"/>
      <p:bldP spid="49" grpId="1" animBg="1"/>
      <p:bldP spid="54" grpId="0" bldLvl="0" animBg="1"/>
      <p:bldP spid="54" grpId="1" animBg="1"/>
      <p:bldP spid="56" grpId="0" bldLvl="0" animBg="1"/>
      <p:bldP spid="56" grpId="1" animBg="1"/>
      <p:bldP spid="57" grpId="0" bldLvl="0" animBg="1"/>
      <p:bldP spid="57" grpId="1" animBg="1"/>
      <p:bldP spid="31" grpId="0"/>
      <p:bldP spid="31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2471" y="267774"/>
            <a:ext cx="4188460" cy="970915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981" y="4666419"/>
            <a:ext cx="4211955" cy="1497965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471" y="2598859"/>
            <a:ext cx="4228465" cy="769620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471" y="1411409"/>
            <a:ext cx="4228465" cy="8972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5171" y="3816154"/>
            <a:ext cx="4138930" cy="65151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258346" y="4345109"/>
            <a:ext cx="3092450" cy="1174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肘形连接符 11"/>
          <p:cNvCxnSpPr/>
          <p:nvPr/>
        </p:nvCxnSpPr>
        <p:spPr>
          <a:xfrm rot="10800000">
            <a:off x="1288826" y="2660454"/>
            <a:ext cx="15875" cy="1741805"/>
          </a:xfrm>
          <a:prstGeom prst="bentConnector3">
            <a:avLst>
              <a:gd name="adj1" fmla="val 1600000"/>
            </a:avLst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242471" y="2584254"/>
            <a:ext cx="2230755" cy="15621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246281" y="3032564"/>
            <a:ext cx="4147820" cy="16319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258981" y="5716074"/>
            <a:ext cx="4410710" cy="13208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1258981" y="1773994"/>
            <a:ext cx="4172585" cy="35115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243106" y="766249"/>
            <a:ext cx="4189095" cy="32131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1242471" y="1377119"/>
            <a:ext cx="2326005" cy="25844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肘形连接符 43"/>
          <p:cNvCxnSpPr>
            <a:stCxn id="26" idx="1"/>
            <a:endCxn id="45" idx="1"/>
          </p:cNvCxnSpPr>
          <p:nvPr/>
        </p:nvCxnSpPr>
        <p:spPr>
          <a:xfrm rot="10800000">
            <a:off x="1242471" y="329369"/>
            <a:ext cx="16510" cy="1619885"/>
          </a:xfrm>
          <a:prstGeom prst="bentConnector3">
            <a:avLst>
              <a:gd name="adj1" fmla="val 3961538"/>
            </a:avLst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1242471" y="231579"/>
            <a:ext cx="2326005" cy="19685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1257711" y="5249984"/>
            <a:ext cx="3498215" cy="46672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8" name="肘形连接符 57"/>
          <p:cNvCxnSpPr>
            <a:stCxn id="16" idx="1"/>
            <a:endCxn id="41" idx="1"/>
          </p:cNvCxnSpPr>
          <p:nvPr/>
        </p:nvCxnSpPr>
        <p:spPr>
          <a:xfrm rot="10800000">
            <a:off x="1242471" y="1506659"/>
            <a:ext cx="3810" cy="1607820"/>
          </a:xfrm>
          <a:prstGeom prst="bentConnector3">
            <a:avLst>
              <a:gd name="adj1" fmla="val 11283333"/>
            </a:avLst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0" name="图片 59"/>
          <p:cNvPicPr>
            <a:picLocks noChangeAspect="1"/>
          </p:cNvPicPr>
          <p:nvPr/>
        </p:nvPicPr>
        <p:blipFill>
          <a:blip r:embed="rId6"/>
          <a:srcRect r="27829" b="-2133"/>
          <a:stretch>
            <a:fillRect/>
          </a:stretch>
        </p:blipFill>
        <p:spPr>
          <a:xfrm>
            <a:off x="508952" y="6333490"/>
            <a:ext cx="6069965" cy="486410"/>
          </a:xfrm>
          <a:prstGeom prst="rect">
            <a:avLst/>
          </a:prstGeom>
        </p:spPr>
      </p:pic>
      <p:cxnSp>
        <p:nvCxnSpPr>
          <p:cNvPr id="64" name="肘形连接符 63"/>
          <p:cNvCxnSpPr>
            <a:stCxn id="29" idx="3"/>
          </p:cNvCxnSpPr>
          <p:nvPr/>
        </p:nvCxnSpPr>
        <p:spPr>
          <a:xfrm>
            <a:off x="5432201" y="926904"/>
            <a:ext cx="645611" cy="5406586"/>
          </a:xfrm>
          <a:prstGeom prst="bentConnector2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2620" y="3656330"/>
            <a:ext cx="4211955" cy="14979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110" y="1588770"/>
            <a:ext cx="4228465" cy="7696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8810" y="2806065"/>
            <a:ext cx="4138930" cy="65151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6991985" y="3335020"/>
            <a:ext cx="3092450" cy="1174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肘形连接符 14"/>
          <p:cNvCxnSpPr/>
          <p:nvPr/>
        </p:nvCxnSpPr>
        <p:spPr>
          <a:xfrm rot="10800000">
            <a:off x="7022465" y="1650365"/>
            <a:ext cx="15875" cy="1741805"/>
          </a:xfrm>
          <a:prstGeom prst="bentConnector3">
            <a:avLst>
              <a:gd name="adj1" fmla="val 1600000"/>
            </a:avLst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6976110" y="1574165"/>
            <a:ext cx="2230755" cy="15621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6979920" y="2022475"/>
            <a:ext cx="4147820" cy="16319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6992620" y="4705985"/>
            <a:ext cx="4410710" cy="13208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肘形连接符 29"/>
          <p:cNvCxnSpPr>
            <a:stCxn id="29" idx="3"/>
            <a:endCxn id="56" idx="3"/>
          </p:cNvCxnSpPr>
          <p:nvPr/>
        </p:nvCxnSpPr>
        <p:spPr>
          <a:xfrm flipH="1">
            <a:off x="4755926" y="926904"/>
            <a:ext cx="676275" cy="4556760"/>
          </a:xfrm>
          <a:prstGeom prst="bentConnector3">
            <a:avLst>
              <a:gd name="adj1" fmla="val -35211"/>
            </a:avLst>
          </a:prstGeom>
          <a:ln w="6350" cap="flat" cmpd="sng" algn="ctr">
            <a:solidFill>
              <a:srgbClr val="FF000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肘形连接符 30"/>
          <p:cNvCxnSpPr>
            <a:stCxn id="26" idx="3"/>
            <a:endCxn id="20" idx="3"/>
          </p:cNvCxnSpPr>
          <p:nvPr/>
        </p:nvCxnSpPr>
        <p:spPr>
          <a:xfrm>
            <a:off x="5431566" y="1949889"/>
            <a:ext cx="238125" cy="3832225"/>
          </a:xfrm>
          <a:prstGeom prst="bentConnector3">
            <a:avLst>
              <a:gd name="adj1" fmla="val 200000"/>
            </a:avLst>
          </a:prstGeom>
          <a:ln w="6350" cap="flat" cmpd="sng" algn="ctr">
            <a:solidFill>
              <a:srgbClr val="FF000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肘形连接符 31"/>
          <p:cNvCxnSpPr/>
          <p:nvPr/>
        </p:nvCxnSpPr>
        <p:spPr>
          <a:xfrm rot="10800000">
            <a:off x="1242471" y="1506659"/>
            <a:ext cx="16510" cy="4275455"/>
          </a:xfrm>
          <a:prstGeom prst="bentConnector3">
            <a:avLst>
              <a:gd name="adj1" fmla="val 2630769"/>
            </a:avLst>
          </a:prstGeom>
          <a:ln w="6350" cap="flat" cmpd="sng" algn="ctr">
            <a:solidFill>
              <a:srgbClr val="FF000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肘形连接符 32"/>
          <p:cNvCxnSpPr/>
          <p:nvPr/>
        </p:nvCxnSpPr>
        <p:spPr>
          <a:xfrm rot="5400000">
            <a:off x="570960" y="5610346"/>
            <a:ext cx="812164" cy="560071"/>
          </a:xfrm>
          <a:prstGeom prst="bentConnector3">
            <a:avLst>
              <a:gd name="adj1" fmla="val 5418"/>
            </a:avLst>
          </a:prstGeom>
          <a:ln w="6350" cap="flat" cmpd="sng" algn="ctr">
            <a:solidFill>
              <a:srgbClr val="FF000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31115" y="2422525"/>
            <a:ext cx="613410" cy="1869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l"/>
            <a:r>
              <a:rPr lang="zh-CN" altLang="en-US" sz="2800" dirty="0" err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第一次调用</a:t>
            </a:r>
            <a:endParaRPr lang="zh-CN" altLang="en-US" sz="2800" dirty="0" err="1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175375" y="2415540"/>
            <a:ext cx="613410" cy="15138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l"/>
            <a:r>
              <a:rPr lang="zh-CN" altLang="en-US" sz="2800" dirty="0" err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后续调用</a:t>
            </a:r>
            <a:endParaRPr lang="zh-CN" altLang="en-US" sz="2800" dirty="0" err="1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cxnSp>
        <p:nvCxnSpPr>
          <p:cNvPr id="37" name="肘形连接符 36"/>
          <p:cNvCxnSpPr>
            <a:stCxn id="18" idx="3"/>
            <a:endCxn id="19" idx="3"/>
          </p:cNvCxnSpPr>
          <p:nvPr/>
        </p:nvCxnSpPr>
        <p:spPr>
          <a:xfrm>
            <a:off x="11127740" y="2104390"/>
            <a:ext cx="275590" cy="2667635"/>
          </a:xfrm>
          <a:prstGeom prst="bentConnector3">
            <a:avLst>
              <a:gd name="adj1" fmla="val 186406"/>
            </a:avLst>
          </a:prstGeom>
          <a:ln w="6350" cap="flat" cmpd="sng" algn="ctr">
            <a:solidFill>
              <a:srgbClr val="FF000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2935" y="5533390"/>
            <a:ext cx="4728845" cy="407035"/>
          </a:xfrm>
          <a:prstGeom prst="rect">
            <a:avLst/>
          </a:prstGeom>
        </p:spPr>
      </p:pic>
      <p:cxnSp>
        <p:nvCxnSpPr>
          <p:cNvPr id="43" name="肘形连接符 42"/>
          <p:cNvCxnSpPr>
            <a:stCxn id="19" idx="1"/>
            <a:endCxn id="42" idx="1"/>
          </p:cNvCxnSpPr>
          <p:nvPr/>
        </p:nvCxnSpPr>
        <p:spPr>
          <a:xfrm rot="10800000" flipV="1">
            <a:off x="6972935" y="4772025"/>
            <a:ext cx="19685" cy="965200"/>
          </a:xfrm>
          <a:prstGeom prst="bentConnector3">
            <a:avLst>
              <a:gd name="adj1" fmla="val 912903"/>
            </a:avLst>
          </a:prstGeom>
          <a:ln w="6350" cap="flat" cmpd="sng" algn="ctr">
            <a:solidFill>
              <a:srgbClr val="FF000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肘形连接符 45"/>
          <p:cNvCxnSpPr>
            <a:stCxn id="18" idx="3"/>
            <a:endCxn id="42" idx="3"/>
          </p:cNvCxnSpPr>
          <p:nvPr/>
        </p:nvCxnSpPr>
        <p:spPr>
          <a:xfrm>
            <a:off x="11127740" y="2104390"/>
            <a:ext cx="574040" cy="3632835"/>
          </a:xfrm>
          <a:prstGeom prst="bentConnector3">
            <a:avLst>
              <a:gd name="adj1" fmla="val 141482"/>
            </a:avLst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1" animBg="1"/>
      <p:bldP spid="13" grpId="1" animBg="1"/>
      <p:bldP spid="16" grpId="1" animBg="1"/>
      <p:bldP spid="20" grpId="1" animBg="1"/>
      <p:bldP spid="26" grpId="1" animBg="1"/>
      <p:bldP spid="29" grpId="1" animBg="1"/>
      <p:bldP spid="41" grpId="1" animBg="1"/>
      <p:bldP spid="45" grpId="1" animBg="1"/>
      <p:bldP spid="56" grpId="1" animBg="1"/>
      <p:bldP spid="14" grpId="0" bldLvl="0" animBg="1"/>
      <p:bldP spid="14" grpId="1" animBg="1"/>
      <p:bldP spid="17" grpId="0" bldLvl="0" animBg="1"/>
      <p:bldP spid="17" grpId="1" animBg="1"/>
      <p:bldP spid="18" grpId="0" bldLvl="0" animBg="1"/>
      <p:bldP spid="19" grpId="0" bldLvl="0" animBg="1"/>
      <p:bldP spid="36" grpId="0"/>
      <p:bldP spid="3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9571355" y="97790"/>
          <a:ext cx="2103120" cy="66615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</a:tblGrid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LOAD: </a:t>
                      </a:r>
                      <a:r>
                        <a:rPr lang="en-US" altLang="zh-CN" sz="1000" b="1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R</a:t>
                      </a:r>
                      <a:endParaRPr lang="en-US" altLang="zh-CN" sz="1000" b="1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(ELF Header)</a:t>
                      </a:r>
                      <a:endParaRPr lang="zh-CN" altLang="en-US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PHDR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程序头表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INTERP</a:t>
                      </a:r>
                      <a:endParaRPr lang="en-US" altLang="zh-CN" sz="1000" b="1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.interp</a:t>
                      </a:r>
                      <a:endParaRPr lang="en-US" altLang="zh-CN" sz="1000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解释器字符串</a:t>
                      </a: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2BE"/>
                    </a:solidFill>
                  </a:tcPr>
                </a:tc>
              </a:tr>
              <a:tr h="2355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NOTE\GNU_PROPERTY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.note(.gnu)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  <a:sym typeface="+mn-ea"/>
                        </a:rPr>
                        <a:t>.gnu.hash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.dynsym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动态链接符号表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.dynstr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动态链接字符串表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355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.gnu.version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.rela.dyn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数据动态链接重定位表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, 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对应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.got)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.rela.plt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过程动态链接重定位表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, 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对应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.got.plt)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LOAD: </a:t>
                      </a:r>
                      <a:r>
                        <a:rPr lang="en-US" altLang="zh-CN" sz="1000" b="1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RE</a:t>
                      </a:r>
                      <a:endParaRPr lang="en-US" altLang="zh-CN" sz="1000" b="1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.init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.plt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解析器桩及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plt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备用桩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.plt.sec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(plt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桩代码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.text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.finit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LOAD: </a:t>
                      </a:r>
                      <a:r>
                        <a:rPr lang="en-US" altLang="zh-CN" sz="1000" b="1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R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.rodata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  <a:sym typeface="+mn-ea"/>
                        </a:rPr>
                        <a:t>GNU_EH_FRAME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  <a:sym typeface="+mn-ea"/>
                        </a:rPr>
                        <a:t>.eh_frame_hdr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  <a:sym typeface="+mn-ea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ECC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  <a:sym typeface="+mn-ea"/>
                        </a:rPr>
                        <a:t>.eh_frame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LOAD: </a:t>
                      </a:r>
                      <a:r>
                        <a:rPr lang="en-US" altLang="zh-CN" sz="1000" b="1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RW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 b="0">
                          <a:latin typeface="华文楷体" panose="02010600040101010101" charset="-122"/>
                          <a:ea typeface="华文楷体" panose="02010600040101010101" charset="-122"/>
                        </a:rPr>
                        <a:t>(.init_array</a:t>
                      </a:r>
                      <a:r>
                        <a:rPr lang="zh-CN" altLang="en-US" sz="1000" b="0">
                          <a:latin typeface="华文楷体" panose="02010600040101010101" charset="-122"/>
                          <a:ea typeface="华文楷体" panose="02010600040101010101" charset="-122"/>
                        </a:rPr>
                        <a:t>、</a:t>
                      </a:r>
                      <a:r>
                        <a:rPr lang="en-US" altLang="zh-CN" sz="1000" b="0">
                          <a:latin typeface="华文楷体" panose="02010600040101010101" charset="-122"/>
                          <a:ea typeface="华文楷体" panose="02010600040101010101" charset="-122"/>
                        </a:rPr>
                        <a:t>.fini_array)</a:t>
                      </a:r>
                      <a:endParaRPr lang="en-US" altLang="zh-CN" sz="1000" b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.dynamic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动态链接表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.got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数据全局偏移表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.got.plt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过程全局偏移表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.data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、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.bss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表格 17"/>
          <p:cNvGraphicFramePr/>
          <p:nvPr>
            <p:custDataLst>
              <p:tags r:id="rId2"/>
            </p:custDataLst>
          </p:nvPr>
        </p:nvGraphicFramePr>
        <p:xfrm>
          <a:off x="5911850" y="4312920"/>
          <a:ext cx="3282950" cy="24466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9265"/>
                <a:gridCol w="2813685"/>
              </a:tblGrid>
              <a:tr h="252095">
                <a:tc gridSpan="2">
                  <a:txBody>
                    <a:bodyPr/>
                    <a:lstStyle/>
                    <a:p>
                      <a:pPr algn="ctr">
                        <a:buClrTx/>
                        <a:buSz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.dynamic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d_tag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d_val/d_ptr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1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DT_NEEDED: 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依赖库名在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.dynstr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中的偏移</a:t>
                      </a:r>
                      <a:endParaRPr lang="zh-CN" altLang="en-US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5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DT_STRTAB:  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动态链接字符串表地址</a:t>
                      </a:r>
                      <a:endParaRPr lang="zh-CN" altLang="en-US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6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DT_SYMTAB: 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动态链接符号表地址</a:t>
                      </a:r>
                      <a:endParaRPr lang="zh-CN" altLang="en-US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10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DT_STRSZ: 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动态链接字符串表大小</a:t>
                      </a:r>
                      <a:endParaRPr lang="zh-CN" altLang="en-US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11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DT_SYMENT: 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动态链接符号表每条目大小</a:t>
                      </a:r>
                      <a:endParaRPr lang="zh-CN" altLang="en-US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3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DT_PLTGOT: 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全局偏移表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(.got.plt)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地址</a:t>
                      </a:r>
                      <a:endParaRPr lang="zh-CN" altLang="en-US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17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DT_JMPREL: .rela.plt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地址</a:t>
                      </a:r>
                      <a:endParaRPr lang="zh-CN" altLang="en-US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表格 19"/>
          <p:cNvGraphicFramePr/>
          <p:nvPr>
            <p:custDataLst>
              <p:tags r:id="rId3"/>
            </p:custDataLst>
          </p:nvPr>
        </p:nvGraphicFramePr>
        <p:xfrm>
          <a:off x="5716905" y="2966720"/>
          <a:ext cx="3477895" cy="10147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3690"/>
                <a:gridCol w="716915"/>
                <a:gridCol w="920750"/>
                <a:gridCol w="497840"/>
                <a:gridCol w="1028700"/>
              </a:tblGrid>
              <a:tr h="251460">
                <a:tc gridSpan="5">
                  <a:txBody>
                    <a:bodyPr/>
                    <a:lstStyle/>
                    <a:p>
                      <a:pPr algn="ctr">
                        <a:buClrTx/>
                        <a:buSz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.rela.plt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r_offset</a:t>
                      </a:r>
                      <a:endParaRPr lang="en-US" altLang="zh-CN" sz="1000" b="1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r_info</a:t>
                      </a:r>
                      <a:endParaRPr lang="en-US" altLang="zh-CN" sz="1000" b="1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r_addend</a:t>
                      </a:r>
                      <a:endParaRPr lang="en-US" altLang="zh-CN" sz="1000" b="1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[0]</a:t>
                      </a:r>
                      <a:endParaRPr lang="en-US" altLang="zh-CN" sz="1000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&amp;got[n+3]</a:t>
                      </a:r>
                      <a:endParaRPr lang="en-US" altLang="zh-CN" sz="1000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.dynsym index</a:t>
                      </a:r>
                      <a:endParaRPr lang="en-US" altLang="zh-CN" sz="1000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type(7)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addend_offset(0)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表格 20"/>
          <p:cNvGraphicFramePr/>
          <p:nvPr>
            <p:custDataLst>
              <p:tags r:id="rId4"/>
            </p:custDataLst>
          </p:nvPr>
        </p:nvGraphicFramePr>
        <p:xfrm>
          <a:off x="6488430" y="1652905"/>
          <a:ext cx="2706370" cy="9829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1465"/>
                <a:gridCol w="861060"/>
                <a:gridCol w="895985"/>
                <a:gridCol w="408305"/>
                <a:gridCol w="249555"/>
              </a:tblGrid>
              <a:tr h="251460">
                <a:tc gridSpan="5">
                  <a:txBody>
                    <a:bodyPr/>
                    <a:lstStyle/>
                    <a:p>
                      <a:pPr algn="ctr">
                        <a:buClrTx/>
                        <a:buSz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.dynsym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st_name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st_info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[0]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.dynstr offset</a:t>
                      </a:r>
                      <a:endParaRPr lang="en-US" altLang="zh-CN" sz="1000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binding(g/l/w)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type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表格 21"/>
          <p:cNvGraphicFramePr/>
          <p:nvPr>
            <p:custDataLst>
              <p:tags r:id="rId5"/>
            </p:custDataLst>
          </p:nvPr>
        </p:nvGraphicFramePr>
        <p:xfrm>
          <a:off x="8253730" y="515620"/>
          <a:ext cx="941070" cy="883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1070"/>
              </a:tblGrid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.dynstr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0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‘string1’,   0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" name="表格 1"/>
          <p:cNvGraphicFramePr/>
          <p:nvPr>
            <p:custDataLst>
              <p:tags r:id="rId6"/>
            </p:custDataLst>
          </p:nvPr>
        </p:nvGraphicFramePr>
        <p:xfrm>
          <a:off x="4559935" y="4867615"/>
          <a:ext cx="1156970" cy="15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6970"/>
              </a:tblGrid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link_map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l_addr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l_name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l_ld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link_map* next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link_map* prev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7"/>
            </p:custDataLst>
          </p:nvPr>
        </p:nvGraphicFramePr>
        <p:xfrm>
          <a:off x="49213" y="4627880"/>
          <a:ext cx="4227830" cy="2042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27830"/>
              </a:tblGrid>
              <a:tr h="120015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_</a:t>
                      </a:r>
                      <a:r>
                        <a:rPr lang="en-US" altLang="zh-CN" sz="8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dl_runtime_resolve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8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link_map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, </a:t>
                      </a:r>
                      <a:r>
                        <a:rPr lang="en-US" altLang="zh-CN" sz="8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reloc_index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):</a:t>
                      </a:r>
                      <a:endParaRPr lang="en-US" altLang="zh-CN" sz="8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......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_</a:t>
                      </a:r>
                      <a:r>
                        <a:rPr lang="en-US" altLang="zh-CN" sz="8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dl_fixup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8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link_map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, </a:t>
                      </a:r>
                      <a:r>
                        <a:rPr lang="en-US" altLang="zh-CN" sz="8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reloc_index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):</a:t>
                      </a:r>
                      <a:endParaRPr lang="en-US" altLang="zh-CN" sz="8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</a:t>
                      </a:r>
                      <a:r>
                        <a:rPr lang="en-US" altLang="zh-CN" sz="800" b="0" i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// get the string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link_map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-&gt; .dynamic -&gt; .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rela.plt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[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reloc_index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] 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-&gt; .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dynsym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[index] -&gt; .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dynstr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[offset]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</a:t>
                      </a:r>
                      <a:r>
                        <a:rPr lang="en-US" altLang="zh-CN" sz="800" i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// iterate the </a:t>
                      </a:r>
                      <a:r>
                        <a:rPr lang="en-US" altLang="zh-CN" sz="800" i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link_map</a:t>
                      </a:r>
                      <a:r>
                        <a:rPr lang="en-US" altLang="zh-CN" sz="800" i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to get the base address and the offset of the symbol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_</a:t>
                      </a:r>
                      <a:r>
                        <a:rPr lang="en-US" altLang="zh-CN" sz="8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dl_lookup_symbol_x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(.</a:t>
                      </a:r>
                      <a:r>
                        <a:rPr lang="en-US" altLang="zh-CN" sz="8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dynstr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[offset], </a:t>
                      </a:r>
                      <a:r>
                        <a:rPr lang="en-US" altLang="zh-CN" sz="8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link_map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, &amp;</a:t>
                      </a:r>
                      <a:r>
                        <a:rPr lang="en-US" altLang="zh-CN" sz="8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sym_offset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):</a:t>
                      </a:r>
                      <a:endParaRPr lang="en-US" altLang="zh-CN" sz="8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      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link_map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-&gt; 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target_link_map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      *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sym_offset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= 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ElfW.symbols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[string]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target_addr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= 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target_link_map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-&gt;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l_addr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+ *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sym_offset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</a:t>
                      </a:r>
                      <a:r>
                        <a:rPr lang="en-US" altLang="zh-CN" sz="800" b="0" i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// write the address back to got entry</a:t>
                      </a:r>
                      <a:endParaRPr lang="en-US" altLang="zh-CN" sz="800" b="0" i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</a:t>
                      </a:r>
                      <a:r>
                        <a:rPr lang="en-US" altLang="zh-CN" sz="8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elf_machine_fixup_plt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8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target_addr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):</a:t>
                      </a:r>
                      <a:endParaRPr lang="en-US" altLang="zh-CN" sz="8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      </a:t>
                      </a:r>
                      <a:r>
                        <a:rPr lang="en-US" altLang="zh-CN" sz="8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target_addr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-&gt; got[n]</a:t>
                      </a:r>
                      <a:endParaRPr lang="en-US" altLang="zh-CN" sz="8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</a:t>
                      </a:r>
                      <a:r>
                        <a:rPr lang="en-US" altLang="zh-CN" sz="800" b="0" i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// jump to the function</a:t>
                      </a:r>
                      <a:endParaRPr lang="en-US" altLang="zh-CN" sz="8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</a:t>
                      </a:r>
                      <a:r>
                        <a:rPr lang="en-US" altLang="zh-CN" sz="8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jmp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altLang="zh-CN" sz="8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target_addr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166626" y="184770"/>
            <a:ext cx="4640580" cy="595630"/>
          </a:xfrm>
        </p:spPr>
        <p:txBody>
          <a:bodyPr>
            <a:normAutofit fontScale="90000"/>
          </a:bodyPr>
          <a:lstStyle/>
          <a:p>
            <a:r>
              <a:rPr lang="en-US" altLang="zh-CN" sz="3200" b="1" spc="300" dirty="0" err="1">
                <a:solidFill>
                  <a:srgbClr val="5C52BA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dl_runtime_resolve</a:t>
            </a:r>
            <a:endParaRPr lang="en-US" altLang="zh-CN" sz="32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520555" y="5604510"/>
            <a:ext cx="2200910" cy="36068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517380" y="1964055"/>
            <a:ext cx="2199640" cy="3683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517380" y="1661160"/>
            <a:ext cx="2204720" cy="31115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518015" y="2489200"/>
            <a:ext cx="2199640" cy="68135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" name="表格 8"/>
          <p:cNvGraphicFramePr/>
          <p:nvPr>
            <p:custDataLst>
              <p:tags r:id="rId9"/>
            </p:custDataLst>
          </p:nvPr>
        </p:nvGraphicFramePr>
        <p:xfrm>
          <a:off x="3214370" y="2863045"/>
          <a:ext cx="1527175" cy="1222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1310"/>
                <a:gridCol w="1205865"/>
              </a:tblGrid>
              <a:tr h="243840">
                <a:tc gridSpan="2">
                  <a:txBody>
                    <a:bodyPr/>
                    <a:lstStyle/>
                    <a:p>
                      <a:pPr algn="ctr">
                        <a:buClrTx/>
                        <a:buSz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.got.plt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[0]</a:t>
                      </a:r>
                      <a:endParaRPr lang="en-US" altLang="zh-CN"/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.dynamic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[1]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link_map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[2]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_</a:t>
                      </a:r>
                      <a:r>
                        <a:rPr lang="en-US" altLang="zh-CN" sz="1000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dl_runtime_resolve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.</a:t>
                      </a:r>
                      <a:r>
                        <a:rPr lang="en-US" altLang="zh-CN" sz="1000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plt</a:t>
                      </a: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[n+1]/</a:t>
                      </a:r>
                      <a:r>
                        <a:rPr lang="en-US" altLang="zh-CN" sz="1000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func</a:t>
                      </a: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[n]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>
            <p:custDataLst>
              <p:tags r:id="rId10"/>
            </p:custDataLst>
          </p:nvPr>
        </p:nvGraphicFramePr>
        <p:xfrm>
          <a:off x="815975" y="2674620"/>
          <a:ext cx="1527175" cy="152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1310"/>
                <a:gridCol w="1205865"/>
              </a:tblGrid>
              <a:tr h="243840">
                <a:tc gridSpan="2">
                  <a:txBody>
                    <a:bodyPr/>
                    <a:lstStyle/>
                    <a:p>
                      <a:pPr algn="ctr">
                        <a:buClrTx/>
                        <a:buSz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.plt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[0]</a:t>
                      </a:r>
                      <a:endParaRPr lang="en-US" altLang="zh-CN"/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push got[1];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jmp got[2];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push n;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jmp plt[0];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44800">
                <a:tc gridSpan="2"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.plt.sec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[n]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jmp</a:t>
                      </a: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 got[n+3]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2" name="直接箭头连接符 11"/>
          <p:cNvCxnSpPr/>
          <p:nvPr/>
        </p:nvCxnSpPr>
        <p:spPr>
          <a:xfrm flipH="1">
            <a:off x="4641850" y="3600450"/>
            <a:ext cx="1454150" cy="35623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 flipV="1">
            <a:off x="6643370" y="2356485"/>
            <a:ext cx="598170" cy="11607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7219950" y="1096010"/>
            <a:ext cx="1018540" cy="111823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1415415" y="3373120"/>
            <a:ext cx="634365" cy="14224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379855" y="2967355"/>
            <a:ext cx="690880" cy="17081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5975" y="1425382"/>
            <a:ext cx="5075102" cy="63040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76" y="1577237"/>
            <a:ext cx="5137299" cy="370352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66626" y="184770"/>
            <a:ext cx="4640580" cy="595630"/>
          </a:xfrm>
        </p:spPr>
        <p:txBody>
          <a:bodyPr>
            <a:normAutofit fontScale="90000"/>
          </a:bodyPr>
          <a:lstStyle/>
          <a:p>
            <a:r>
              <a:rPr lang="en-US" altLang="zh-CN" sz="3200" b="1" spc="300" dirty="0" err="1">
                <a:solidFill>
                  <a:srgbClr val="5C52BA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dl_runtime_resolve</a:t>
            </a:r>
            <a:endParaRPr lang="en-US" altLang="zh-CN" sz="32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5321300" y="327374"/>
            <a:ext cx="6826250" cy="6203252"/>
            <a:chOff x="5802518" y="482585"/>
            <a:chExt cx="6389482" cy="5905437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3"/>
            <a:srcRect t="745" b="448"/>
            <a:stretch>
              <a:fillRect/>
            </a:stretch>
          </p:blipFill>
          <p:spPr>
            <a:xfrm>
              <a:off x="5802518" y="482585"/>
              <a:ext cx="6389482" cy="4197350"/>
            </a:xfrm>
            <a:prstGeom prst="rect">
              <a:avLst/>
            </a:prstGeom>
          </p:spPr>
        </p:pic>
        <p:pic>
          <p:nvPicPr>
            <p:cNvPr id="38" name="图片 3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0800000" flipH="1" flipV="1">
              <a:off x="5808869" y="4679935"/>
              <a:ext cx="5551282" cy="1708087"/>
            </a:xfrm>
            <a:prstGeom prst="rect">
              <a:avLst/>
            </a:prstGeom>
          </p:spPr>
        </p:pic>
      </p:grpSp>
      <p:sp>
        <p:nvSpPr>
          <p:cNvPr id="40" name="矩形 39"/>
          <p:cNvSpPr/>
          <p:nvPr/>
        </p:nvSpPr>
        <p:spPr>
          <a:xfrm>
            <a:off x="2021333" y="3530600"/>
            <a:ext cx="2118867" cy="10795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2021332" y="3638550"/>
            <a:ext cx="2118867" cy="10795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2021332" y="4381412"/>
            <a:ext cx="2118867" cy="10795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连接符: 肘形 43"/>
          <p:cNvCxnSpPr>
            <a:stCxn id="40" idx="3"/>
          </p:cNvCxnSpPr>
          <p:nvPr/>
        </p:nvCxnSpPr>
        <p:spPr>
          <a:xfrm flipV="1">
            <a:off x="4140200" y="2355850"/>
            <a:ext cx="2379575" cy="122872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6519775" y="2301875"/>
            <a:ext cx="1119275" cy="1047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6519775" y="274985"/>
            <a:ext cx="1119275" cy="15046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连接符: 肘形 47"/>
          <p:cNvCxnSpPr>
            <a:stCxn id="41" idx="3"/>
            <a:endCxn id="47" idx="1"/>
          </p:cNvCxnSpPr>
          <p:nvPr/>
        </p:nvCxnSpPr>
        <p:spPr>
          <a:xfrm flipV="1">
            <a:off x="4140199" y="350218"/>
            <a:ext cx="2379576" cy="3342307"/>
          </a:xfrm>
          <a:prstGeom prst="bentConnector3">
            <a:avLst>
              <a:gd name="adj1" fmla="val 4573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6519774" y="5354305"/>
            <a:ext cx="1589176" cy="1416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4" name="连接符: 肘形 53"/>
          <p:cNvCxnSpPr>
            <a:stCxn id="42" idx="3"/>
            <a:endCxn id="53" idx="1"/>
          </p:cNvCxnSpPr>
          <p:nvPr/>
        </p:nvCxnSpPr>
        <p:spPr>
          <a:xfrm>
            <a:off x="4140199" y="4435387"/>
            <a:ext cx="2379575" cy="989728"/>
          </a:xfrm>
          <a:prstGeom prst="bentConnector3">
            <a:avLst>
              <a:gd name="adj1" fmla="val 34522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93700" y="184770"/>
            <a:ext cx="4413506" cy="59563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200" b="1" spc="300" dirty="0" err="1">
                <a:solidFill>
                  <a:srgbClr val="5C52BA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dl_runtime_resolve</a:t>
            </a:r>
            <a:endParaRPr lang="en-US" altLang="zh-CN" sz="32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790754"/>
            <a:ext cx="5760720" cy="2880360"/>
          </a:xfrm>
          <a:prstGeom prst="rect">
            <a:avLst/>
          </a:prstGeom>
        </p:spPr>
      </p:pic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6477000" y="827616"/>
          <a:ext cx="5232401" cy="5120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59527"/>
                <a:gridCol w="662146"/>
                <a:gridCol w="662146"/>
                <a:gridCol w="1324291"/>
                <a:gridCol w="1324291"/>
              </a:tblGrid>
              <a:tr h="222956">
                <a:tc>
                  <a:txBody>
                    <a:bodyPr/>
                    <a:lstStyle/>
                    <a:p>
                      <a:pPr algn="r"/>
                      <a:endParaRPr lang="zh-CN" altLang="en-US" sz="10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ym typeface="Wingdings" panose="05000000000000000000" pitchFamily="2" charset="2"/>
                        </a:rPr>
                        <a:t>&lt;----         8B           ----&gt;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dirty="0">
                          <a:sym typeface="Wingdings" panose="05000000000000000000" pitchFamily="2" charset="2"/>
                        </a:rPr>
                        <a:t>&lt;----         8B           ----&gt;</a:t>
                      </a:r>
                      <a:endParaRPr lang="zh-CN" alt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dirty="0">
                          <a:sym typeface="Wingdings" panose="05000000000000000000" pitchFamily="2" charset="2"/>
                        </a:rPr>
                        <a:t>&lt;----         8B           ----&gt;</a:t>
                      </a:r>
                      <a:endParaRPr lang="zh-CN" alt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2956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b="1" dirty="0"/>
                        <a:t>.</a:t>
                      </a:r>
                      <a:r>
                        <a:rPr lang="en-US" altLang="zh-CN" sz="1000" b="1" dirty="0" err="1"/>
                        <a:t>dynsym</a:t>
                      </a:r>
                      <a:endParaRPr lang="zh-CN" altLang="en-US" sz="10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</a:t>
                      </a:r>
                      <a:endParaRPr lang="zh-CN" altLang="en-US" sz="1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</a:t>
                      </a:r>
                      <a:endParaRPr lang="zh-CN" altLang="en-US" sz="1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22956">
                <a:tc>
                  <a:txBody>
                    <a:bodyPr/>
                    <a:lstStyle/>
                    <a:p>
                      <a:pPr algn="r"/>
                      <a:endParaRPr lang="zh-CN" altLang="en-US" sz="10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err="1"/>
                        <a:t>st_name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err="1"/>
                        <a:t>st_value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err="1"/>
                        <a:t>st_size</a:t>
                      </a:r>
                      <a:endParaRPr lang="zh-CN" altLang="en-US" sz="1000" dirty="0"/>
                    </a:p>
                  </a:txBody>
                  <a:tcPr/>
                </a:tc>
              </a:tr>
              <a:tr h="222956">
                <a:tc>
                  <a:txBody>
                    <a:bodyPr/>
                    <a:lstStyle/>
                    <a:p>
                      <a:pPr algn="r"/>
                      <a:endParaRPr lang="zh-CN" altLang="en-US" sz="10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/>
                </a:tc>
              </a:tr>
              <a:tr h="222956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b="1" dirty="0"/>
                        <a:t>.</a:t>
                      </a:r>
                      <a:r>
                        <a:rPr lang="en-US" altLang="zh-CN" sz="1000" b="1" dirty="0" err="1"/>
                        <a:t>dynstr</a:t>
                      </a:r>
                      <a:endParaRPr lang="zh-CN" altLang="en-US" sz="10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\x00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“string1\x00”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“string2\x00”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22956">
                <a:tc>
                  <a:txBody>
                    <a:bodyPr/>
                    <a:lstStyle/>
                    <a:p>
                      <a:pPr algn="r"/>
                      <a:endParaRPr lang="zh-CN" altLang="en-US" sz="10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22956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b="1" dirty="0"/>
                        <a:t>.</a:t>
                      </a:r>
                      <a:r>
                        <a:rPr lang="en-US" altLang="zh-CN" sz="1000" b="1" dirty="0" err="1"/>
                        <a:t>rela.plt</a:t>
                      </a:r>
                      <a:endParaRPr lang="zh-CN" altLang="en-US" sz="10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r_offset</a:t>
                      </a:r>
                      <a:endParaRPr lang="en-US" altLang="zh-CN" sz="1000" b="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r_info</a:t>
                      </a:r>
                      <a:endParaRPr lang="en-US" altLang="zh-CN" sz="1000" b="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r_addend</a:t>
                      </a:r>
                      <a:endParaRPr lang="en-US" altLang="zh-CN" sz="1000" b="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</a:tr>
              <a:tr h="222956">
                <a:tc>
                  <a:txBody>
                    <a:bodyPr/>
                    <a:lstStyle/>
                    <a:p>
                      <a:pPr algn="r"/>
                      <a:endParaRPr lang="zh-CN" altLang="en-US" sz="10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/>
                </a:tc>
              </a:tr>
              <a:tr h="222956">
                <a:tc>
                  <a:txBody>
                    <a:bodyPr/>
                    <a:lstStyle/>
                    <a:p>
                      <a:pPr algn="r"/>
                      <a:endParaRPr lang="zh-CN" altLang="en-US" sz="10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/>
                </a:tc>
              </a:tr>
              <a:tr h="222956">
                <a:tc>
                  <a:txBody>
                    <a:bodyPr/>
                    <a:lstStyle/>
                    <a:p>
                      <a:pPr algn="r"/>
                      <a:endParaRPr lang="zh-CN" altLang="en-US" sz="10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/>
                </a:tc>
              </a:tr>
              <a:tr h="222956">
                <a:tc>
                  <a:txBody>
                    <a:bodyPr/>
                    <a:lstStyle/>
                    <a:p>
                      <a:pPr algn="r"/>
                      <a:endParaRPr lang="zh-CN" altLang="en-US" sz="10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/>
                </a:tc>
              </a:tr>
              <a:tr h="222956">
                <a:tc>
                  <a:txBody>
                    <a:bodyPr/>
                    <a:lstStyle/>
                    <a:p>
                      <a:pPr algn="r"/>
                      <a:endParaRPr lang="zh-CN" altLang="en-US" sz="10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/>
                </a:tc>
              </a:tr>
              <a:tr h="222956">
                <a:tc>
                  <a:txBody>
                    <a:bodyPr/>
                    <a:lstStyle/>
                    <a:p>
                      <a:pPr algn="r"/>
                      <a:endParaRPr lang="zh-CN" altLang="en-US" sz="10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/>
                </a:tc>
              </a:tr>
              <a:tr h="222956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b="1" dirty="0"/>
                        <a:t>.</a:t>
                      </a:r>
                      <a:r>
                        <a:rPr lang="en-US" altLang="zh-CN" sz="1000" b="1" dirty="0" err="1"/>
                        <a:t>got.plt</a:t>
                      </a:r>
                      <a:endParaRPr lang="zh-CN" altLang="en-US" sz="10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.dynamic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&amp;</a:t>
                      </a:r>
                      <a:r>
                        <a:rPr lang="en-US" altLang="zh-CN" sz="1000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link_map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_</a:t>
                      </a:r>
                      <a:r>
                        <a:rPr lang="en-US" altLang="zh-CN" sz="1000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dl_runtime_resolve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</a:tr>
              <a:tr h="222956">
                <a:tc>
                  <a:txBody>
                    <a:bodyPr/>
                    <a:lstStyle/>
                    <a:p>
                      <a:pPr algn="r"/>
                      <a:endParaRPr lang="zh-CN" altLang="en-US" sz="10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000" dirty="0" err="1"/>
                        <a:t>func</a:t>
                      </a:r>
                      <a:r>
                        <a:rPr lang="en-US" altLang="zh-CN" sz="1000" dirty="0"/>
                        <a:t>[1]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dirty="0" err="1"/>
                        <a:t>func</a:t>
                      </a:r>
                      <a:r>
                        <a:rPr lang="en-US" altLang="zh-CN" sz="1000" dirty="0"/>
                        <a:t>[2]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dirty="0" err="1"/>
                        <a:t>func</a:t>
                      </a:r>
                      <a:r>
                        <a:rPr lang="en-US" altLang="zh-CN" sz="1000" dirty="0"/>
                        <a:t>[3]</a:t>
                      </a:r>
                      <a:endParaRPr lang="zh-CN" altLang="en-US" sz="1000" dirty="0"/>
                    </a:p>
                  </a:txBody>
                  <a:tcPr/>
                </a:tc>
              </a:tr>
              <a:tr h="222956">
                <a:tc>
                  <a:txBody>
                    <a:bodyPr/>
                    <a:lstStyle/>
                    <a:p>
                      <a:pPr algn="r"/>
                      <a:endParaRPr lang="zh-CN" altLang="en-US" sz="10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/>
                </a:tc>
              </a:tr>
              <a:tr h="222956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b="1" dirty="0"/>
                        <a:t>.</a:t>
                      </a:r>
                      <a:r>
                        <a:rPr lang="en-US" altLang="zh-CN" sz="1000" b="1" dirty="0" err="1"/>
                        <a:t>bss</a:t>
                      </a:r>
                      <a:endParaRPr lang="zh-CN" altLang="en-US" sz="10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stdout@GLIBC_2_2_5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stdin@GLIBC_2_2_5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stderr@GLIBC_2_2_5</a:t>
                      </a:r>
                      <a:endParaRPr lang="zh-CN" altLang="en-US" sz="1000" dirty="0"/>
                    </a:p>
                  </a:txBody>
                  <a:tcPr/>
                </a:tc>
              </a:tr>
              <a:tr h="222956">
                <a:tc>
                  <a:txBody>
                    <a:bodyPr/>
                    <a:lstStyle/>
                    <a:p>
                      <a:pPr algn="r"/>
                      <a:endParaRPr lang="zh-CN" altLang="en-US" sz="10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/>
                </a:tc>
              </a:tr>
              <a:tr h="222956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b="1" dirty="0">
                          <a:solidFill>
                            <a:srgbClr val="FF0000"/>
                          </a:solidFill>
                        </a:rPr>
                        <a:t>fake .</a:t>
                      </a:r>
                      <a:r>
                        <a:rPr lang="en-US" altLang="zh-CN" sz="1000" b="1" dirty="0" err="1">
                          <a:solidFill>
                            <a:srgbClr val="FF0000"/>
                          </a:solidFill>
                        </a:rPr>
                        <a:t>dynstr</a:t>
                      </a: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CN" sz="1000" b="1" dirty="0">
                          <a:solidFill>
                            <a:srgbClr val="FF0000"/>
                          </a:solidFill>
                        </a:rPr>
                        <a:t>entry</a:t>
                      </a:r>
                      <a:endParaRPr lang="zh-CN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rgbClr val="FF0000"/>
                          </a:solidFill>
                        </a:rPr>
                        <a:t>“</a:t>
                      </a:r>
                      <a:r>
                        <a:rPr lang="en-US" altLang="zh-CN" sz="1000" dirty="0" err="1">
                          <a:solidFill>
                            <a:srgbClr val="FF0000"/>
                          </a:solidFill>
                        </a:rPr>
                        <a:t>target_func_name</a:t>
                      </a:r>
                      <a:r>
                        <a:rPr lang="en-US" altLang="zh-CN" sz="1000" dirty="0">
                          <a:solidFill>
                            <a:srgbClr val="FF0000"/>
                          </a:solidFill>
                        </a:rPr>
                        <a:t>\x00”</a:t>
                      </a:r>
                      <a:endParaRPr lang="zh-CN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22956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fake .</a:t>
                      </a:r>
                      <a:r>
                        <a:rPr lang="en-US" altLang="zh-CN" sz="1000" b="1" kern="120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dynsym</a:t>
                      </a:r>
                      <a:r>
                        <a:rPr lang="en-US" altLang="zh-CN" sz="10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entry</a:t>
                      </a:r>
                      <a:endParaRPr lang="zh-CN" altLang="en-US" sz="10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000" dirty="0" err="1">
                          <a:solidFill>
                            <a:srgbClr val="FF0000"/>
                          </a:solidFill>
                        </a:rPr>
                        <a:t>fake_string_offset</a:t>
                      </a:r>
                      <a:endParaRPr lang="zh-CN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222956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fake .</a:t>
                      </a:r>
                      <a:r>
                        <a:rPr lang="en-US" altLang="zh-CN" sz="1000" b="1" kern="120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rela.plt</a:t>
                      </a:r>
                      <a:r>
                        <a:rPr lang="en-US" altLang="zh-CN" sz="10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entry</a:t>
                      </a:r>
                      <a:endParaRPr lang="zh-CN" altLang="en-US" sz="10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000" kern="120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resolve_got_offset</a:t>
                      </a:r>
                      <a:endParaRPr lang="zh-CN" altLang="en-US" sz="10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rgbClr val="FF0000"/>
                          </a:solidFill>
                        </a:rPr>
                        <a:t>fake_sym_index+0x7</a:t>
                      </a:r>
                      <a:endParaRPr lang="zh-CN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62" y="5523865"/>
            <a:ext cx="6246538" cy="318135"/>
          </a:xfrm>
          <a:prstGeom prst="rect">
            <a:avLst/>
          </a:prstGeom>
        </p:spPr>
      </p:pic>
      <p:sp>
        <p:nvSpPr>
          <p:cNvPr id="35" name="矩形 34"/>
          <p:cNvSpPr/>
          <p:nvPr/>
        </p:nvSpPr>
        <p:spPr>
          <a:xfrm>
            <a:off x="1695450" y="5645150"/>
            <a:ext cx="2133600" cy="1651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表格 19"/>
          <p:cNvGraphicFramePr/>
          <p:nvPr>
            <p:custDataLst>
              <p:tags r:id="rId1"/>
            </p:custDataLst>
          </p:nvPr>
        </p:nvGraphicFramePr>
        <p:xfrm>
          <a:off x="6564691" y="2929825"/>
          <a:ext cx="4834910" cy="10147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0742"/>
                <a:gridCol w="1524732"/>
                <a:gridCol w="1044171"/>
                <a:gridCol w="504886"/>
                <a:gridCol w="1460379"/>
              </a:tblGrid>
              <a:tr h="251460">
                <a:tc gridSpan="5">
                  <a:txBody>
                    <a:bodyPr/>
                    <a:lstStyle/>
                    <a:p>
                      <a:pPr algn="ctr">
                        <a:buClrTx/>
                        <a:buSz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.rela.plt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000" b="1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r_offset</a:t>
                      </a:r>
                      <a:endParaRPr lang="en-US" altLang="zh-CN" sz="1000" b="1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r_info</a:t>
                      </a:r>
                      <a:endParaRPr lang="en-US" altLang="zh-CN" sz="1000" b="1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r_addend</a:t>
                      </a:r>
                      <a:endParaRPr lang="en-US" altLang="zh-CN" sz="1000" b="1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[0]</a:t>
                      </a:r>
                      <a:endParaRPr lang="en-US" altLang="zh-CN" sz="1000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&amp;got[n+3]</a:t>
                      </a:r>
                      <a:endParaRPr lang="en-US" altLang="zh-CN" sz="1000" dirty="0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.</a:t>
                      </a:r>
                      <a:r>
                        <a:rPr lang="en-US" altLang="zh-CN" sz="1000" dirty="0" err="1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dynsym</a:t>
                      </a:r>
                      <a:r>
                        <a:rPr lang="en-US" altLang="zh-CN" sz="1000" dirty="0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 index</a:t>
                      </a:r>
                      <a:endParaRPr lang="en-US" altLang="zh-CN" sz="1000" dirty="0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type(7)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addend_offset(0)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表格 20"/>
          <p:cNvGraphicFramePr/>
          <p:nvPr>
            <p:custDataLst>
              <p:tags r:id="rId2"/>
            </p:custDataLst>
          </p:nvPr>
        </p:nvGraphicFramePr>
        <p:xfrm>
          <a:off x="6570036" y="1646221"/>
          <a:ext cx="4834910" cy="9829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5550"/>
                <a:gridCol w="777600"/>
                <a:gridCol w="208280"/>
                <a:gridCol w="208280"/>
                <a:gridCol w="439200"/>
                <a:gridCol w="1476000"/>
                <a:gridCol w="1440000"/>
              </a:tblGrid>
              <a:tr h="251460">
                <a:tc gridSpan="7">
                  <a:txBody>
                    <a:bodyPr/>
                    <a:lstStyle/>
                    <a:p>
                      <a:pPr algn="ctr">
                        <a:buClrTx/>
                        <a:buSz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.dynsym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st_name</a:t>
                      </a:r>
                      <a:r>
                        <a:rPr lang="en-US" altLang="zh-CN" sz="1000" b="1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/info/other/</a:t>
                      </a:r>
                      <a:r>
                        <a:rPr lang="en-US" altLang="zh-CN" sz="1000" b="1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shndx</a:t>
                      </a:r>
                      <a:endParaRPr lang="en-US" altLang="zh-CN" sz="1000" b="1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st_value</a:t>
                      </a:r>
                      <a:endParaRPr lang="en-US" altLang="zh-CN" sz="1000" b="1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st_size</a:t>
                      </a:r>
                      <a:endParaRPr lang="en-US" altLang="zh-CN" sz="1000" b="1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[0]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offset</a:t>
                      </a:r>
                      <a:endParaRPr lang="en-US" altLang="zh-CN" sz="1000" dirty="0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…</a:t>
                      </a:r>
                      <a:endParaRPr lang="en-US" altLang="zh-CN" sz="1000" dirty="0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…</a:t>
                      </a:r>
                      <a:endParaRPr lang="en-US" altLang="zh-CN" sz="1000" dirty="0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0</a:t>
                      </a:r>
                      <a:endParaRPr lang="en-US" altLang="zh-CN" sz="1000" dirty="0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dirty="0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…</a:t>
                      </a:r>
                      <a:endParaRPr lang="en-US" altLang="zh-CN" sz="1000" b="0" dirty="0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表格 21"/>
          <p:cNvGraphicFramePr/>
          <p:nvPr>
            <p:custDataLst>
              <p:tags r:id="rId3"/>
            </p:custDataLst>
          </p:nvPr>
        </p:nvGraphicFramePr>
        <p:xfrm>
          <a:off x="8426890" y="481616"/>
          <a:ext cx="941070" cy="883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1070"/>
              </a:tblGrid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.dynstr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0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‘string1’,   0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" name="表格 1"/>
          <p:cNvGraphicFramePr/>
          <p:nvPr>
            <p:custDataLst>
              <p:tags r:id="rId4"/>
            </p:custDataLst>
          </p:nvPr>
        </p:nvGraphicFramePr>
        <p:xfrm>
          <a:off x="927103" y="5095675"/>
          <a:ext cx="1156970" cy="15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6970"/>
              </a:tblGrid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None/>
                      </a:pPr>
                      <a:r>
                        <a:rPr lang="en-US" altLang="zh-CN" sz="1000" b="1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link_map</a:t>
                      </a:r>
                      <a:r>
                        <a:rPr lang="en-US" altLang="zh-CN" sz="1000" b="1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(elf)</a:t>
                      </a:r>
                      <a:endParaRPr lang="en-US" altLang="zh-CN" sz="1000" b="1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l_addr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l_name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l_ld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link_map* next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link_map* prev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5"/>
            </p:custDataLst>
          </p:nvPr>
        </p:nvGraphicFramePr>
        <p:xfrm>
          <a:off x="960234" y="955025"/>
          <a:ext cx="4227830" cy="2042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27830"/>
              </a:tblGrid>
              <a:tr h="120015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_</a:t>
                      </a:r>
                      <a:r>
                        <a:rPr lang="en-US" altLang="zh-CN" sz="8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dl_runtime_resolve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8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link_map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, </a:t>
                      </a:r>
                      <a:r>
                        <a:rPr lang="en-US" altLang="zh-CN" sz="8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reloc_index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):</a:t>
                      </a:r>
                      <a:endParaRPr lang="en-US" altLang="zh-CN" sz="8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......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_</a:t>
                      </a:r>
                      <a:r>
                        <a:rPr lang="en-US" altLang="zh-CN" sz="8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dl_fixup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8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link_map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, </a:t>
                      </a:r>
                      <a:r>
                        <a:rPr lang="en-US" altLang="zh-CN" sz="8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reloc_index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):</a:t>
                      </a:r>
                      <a:endParaRPr lang="en-US" altLang="zh-CN" sz="8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</a:t>
                      </a:r>
                      <a:r>
                        <a:rPr lang="en-US" altLang="zh-CN" sz="800" b="0" i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// get the string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link_map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-&gt; .dynamic -&gt; .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rela.plt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[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reloc_index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] 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-&gt; .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dynsym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[index] -&gt; .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dynstr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[offset]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</a:t>
                      </a:r>
                      <a:r>
                        <a:rPr lang="en-US" altLang="zh-CN" sz="800" i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// iterate the </a:t>
                      </a:r>
                      <a:r>
                        <a:rPr lang="en-US" altLang="zh-CN" sz="800" i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link_map</a:t>
                      </a:r>
                      <a:r>
                        <a:rPr lang="en-US" altLang="zh-CN" sz="800" i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to get the base address and the offset of the symbol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_</a:t>
                      </a:r>
                      <a:r>
                        <a:rPr lang="en-US" altLang="zh-CN" sz="8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dl_lookup_symbol_x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(.</a:t>
                      </a:r>
                      <a:r>
                        <a:rPr lang="en-US" altLang="zh-CN" sz="8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dynstr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[offset], </a:t>
                      </a:r>
                      <a:r>
                        <a:rPr lang="en-US" altLang="zh-CN" sz="8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link_map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, &amp;</a:t>
                      </a:r>
                      <a:r>
                        <a:rPr lang="en-US" altLang="zh-CN" sz="8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sym_offset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):</a:t>
                      </a:r>
                      <a:endParaRPr lang="en-US" altLang="zh-CN" sz="8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      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link_map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-&gt; 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target_link_map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      *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sym_offset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= 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ElfW.symbols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[string]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target_addr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= 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target_link_map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-&gt;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l_addr</a:t>
                      </a: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+ *</a:t>
                      </a: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sym_offset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</a:t>
                      </a:r>
                      <a:r>
                        <a:rPr lang="en-US" altLang="zh-CN" sz="800" b="0" i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// write the address back to got entry</a:t>
                      </a:r>
                      <a:endParaRPr lang="en-US" altLang="zh-CN" sz="800" b="0" i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</a:t>
                      </a:r>
                      <a:r>
                        <a:rPr lang="en-US" altLang="zh-CN" sz="8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elf_machine_fixup_plt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altLang="zh-CN" sz="8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target_addr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):</a:t>
                      </a:r>
                      <a:endParaRPr lang="en-US" altLang="zh-CN" sz="8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      </a:t>
                      </a:r>
                      <a:r>
                        <a:rPr lang="en-US" altLang="zh-CN" sz="8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target_addr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-&gt; got[n]</a:t>
                      </a:r>
                      <a:endParaRPr lang="en-US" altLang="zh-CN" sz="8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</a:t>
                      </a:r>
                      <a:r>
                        <a:rPr lang="en-US" altLang="zh-CN" sz="800" b="0" i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// jump to the function</a:t>
                      </a:r>
                      <a:endParaRPr lang="en-US" altLang="zh-CN" sz="8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</a:t>
                      </a:r>
                      <a:r>
                        <a:rPr lang="en-US" altLang="zh-CN" sz="8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jmp</a:t>
                      </a:r>
                      <a:r>
                        <a:rPr lang="en-US" altLang="zh-CN" sz="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altLang="zh-CN" sz="8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target_addr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74650" y="184770"/>
            <a:ext cx="4432555" cy="595630"/>
          </a:xfrm>
        </p:spPr>
        <p:txBody>
          <a:bodyPr>
            <a:normAutofit/>
          </a:bodyPr>
          <a:lstStyle/>
          <a:p>
            <a:pPr algn="l"/>
            <a:r>
              <a:rPr lang="en-US" altLang="zh-CN" sz="3200" b="1" spc="300" dirty="0" err="1">
                <a:solidFill>
                  <a:srgbClr val="5C52BA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link_map</a:t>
            </a:r>
            <a:endParaRPr lang="en-US" altLang="zh-CN" sz="32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7"/>
            </p:custDataLst>
          </p:nvPr>
        </p:nvGraphicFramePr>
        <p:xfrm>
          <a:off x="3508234" y="3419770"/>
          <a:ext cx="1527175" cy="1222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1310"/>
                <a:gridCol w="1205865"/>
              </a:tblGrid>
              <a:tr h="243840">
                <a:tc gridSpan="2">
                  <a:txBody>
                    <a:bodyPr/>
                    <a:lstStyle/>
                    <a:p>
                      <a:pPr algn="ctr">
                        <a:buClrTx/>
                        <a:buSz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.got.plt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[0]</a:t>
                      </a:r>
                      <a:endParaRPr lang="en-US" altLang="zh-CN"/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.dynamic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[1]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link_map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[2]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_</a:t>
                      </a:r>
                      <a:r>
                        <a:rPr lang="en-US" altLang="zh-CN" sz="1000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dl_runtime_resolve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.</a:t>
                      </a:r>
                      <a:r>
                        <a:rPr lang="en-US" altLang="zh-CN" sz="1000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plt</a:t>
                      </a: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[n+1]/</a:t>
                      </a:r>
                      <a:r>
                        <a:rPr lang="en-US" altLang="zh-CN" sz="1000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func</a:t>
                      </a: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[n]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>
            <p:custDataLst>
              <p:tags r:id="rId8"/>
            </p:custDataLst>
          </p:nvPr>
        </p:nvGraphicFramePr>
        <p:xfrm>
          <a:off x="960234" y="3267850"/>
          <a:ext cx="1527175" cy="152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1310"/>
                <a:gridCol w="1205865"/>
              </a:tblGrid>
              <a:tr h="243840">
                <a:tc gridSpan="2">
                  <a:txBody>
                    <a:bodyPr/>
                    <a:lstStyle/>
                    <a:p>
                      <a:pPr algn="ctr">
                        <a:buClrTx/>
                        <a:buSz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.plt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[0]</a:t>
                      </a:r>
                      <a:endParaRPr lang="en-US" altLang="zh-CN"/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push got[1];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jmp got[2];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push n;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jmp</a:t>
                      </a: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 </a:t>
                      </a:r>
                      <a:r>
                        <a:rPr lang="en-US" altLang="zh-CN" sz="1000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plt</a:t>
                      </a: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[0];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44800">
                <a:tc gridSpan="2"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.plt.sec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[n]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jmp</a:t>
                      </a: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 got[n+3]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2" name="直接箭头连接符 11"/>
          <p:cNvCxnSpPr/>
          <p:nvPr/>
        </p:nvCxnSpPr>
        <p:spPr>
          <a:xfrm flipH="1">
            <a:off x="4914001" y="3581616"/>
            <a:ext cx="2349318" cy="93878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 flipV="1">
            <a:off x="6765986" y="2401236"/>
            <a:ext cx="1828800" cy="112022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7399506" y="1093136"/>
            <a:ext cx="1195280" cy="110839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1581961" y="3961170"/>
            <a:ext cx="634365" cy="14224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553704" y="3541712"/>
            <a:ext cx="690880" cy="17081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7" name="表格 16"/>
          <p:cNvGraphicFramePr/>
          <p:nvPr>
            <p:custDataLst>
              <p:tags r:id="rId9"/>
            </p:custDataLst>
          </p:nvPr>
        </p:nvGraphicFramePr>
        <p:xfrm>
          <a:off x="3403827" y="5095675"/>
          <a:ext cx="1156970" cy="15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6970"/>
              </a:tblGrid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None/>
                      </a:pPr>
                      <a:r>
                        <a:rPr lang="en-US" altLang="zh-CN" sz="1000" b="1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link_map</a:t>
                      </a:r>
                      <a:r>
                        <a:rPr lang="en-US" altLang="zh-CN" sz="1000" b="1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en-US" altLang="zh-CN" sz="1000" b="1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libc</a:t>
                      </a:r>
                      <a:r>
                        <a:rPr lang="en-US" altLang="zh-CN" sz="1000" b="1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 b="1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l_addr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l_name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l_ld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link_map* next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link_map* prev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表格 18"/>
          <p:cNvGraphicFramePr/>
          <p:nvPr>
            <p:custDataLst>
              <p:tags r:id="rId10"/>
            </p:custDataLst>
          </p:nvPr>
        </p:nvGraphicFramePr>
        <p:xfrm>
          <a:off x="5958369" y="5095675"/>
          <a:ext cx="1156970" cy="15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6970"/>
              </a:tblGrid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None/>
                      </a:pPr>
                      <a:r>
                        <a:rPr lang="en-US" altLang="zh-CN" sz="1000" b="1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link_map</a:t>
                      </a:r>
                      <a:r>
                        <a:rPr lang="en-US" altLang="zh-CN" sz="1000" b="1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en-US" altLang="zh-CN" sz="1000" b="1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ld</a:t>
                      </a:r>
                      <a:r>
                        <a:rPr lang="en-US" altLang="zh-CN" sz="1000" b="1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 b="1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l_addr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 dirty="0" err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l_name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l_ld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link_map* next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link_map* prev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8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26" name="直接箭头连接符 25"/>
          <p:cNvCxnSpPr/>
          <p:nvPr/>
        </p:nvCxnSpPr>
        <p:spPr>
          <a:xfrm>
            <a:off x="2084073" y="5604510"/>
            <a:ext cx="489964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2457234" y="5508243"/>
            <a:ext cx="553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…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>
            <a:off x="2913863" y="5604510"/>
            <a:ext cx="489964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H="1">
            <a:off x="2913863" y="5949950"/>
            <a:ext cx="463171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H="1">
            <a:off x="2084073" y="5949950"/>
            <a:ext cx="463171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4576232" y="5604510"/>
            <a:ext cx="489964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5020727" y="5508243"/>
            <a:ext cx="553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…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40" name="直接箭头连接符 39"/>
          <p:cNvCxnSpPr/>
          <p:nvPr/>
        </p:nvCxnSpPr>
        <p:spPr>
          <a:xfrm>
            <a:off x="5477355" y="5604510"/>
            <a:ext cx="489964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H="1">
            <a:off x="5477355" y="5949950"/>
            <a:ext cx="463171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H="1">
            <a:off x="4576232" y="5949950"/>
            <a:ext cx="463171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52" name="表格 51"/>
          <p:cNvGraphicFramePr/>
          <p:nvPr>
            <p:custDataLst>
              <p:tags r:id="rId11"/>
            </p:custDataLst>
          </p:nvPr>
        </p:nvGraphicFramePr>
        <p:xfrm>
          <a:off x="7953359" y="4284915"/>
          <a:ext cx="3446242" cy="24466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606"/>
                <a:gridCol w="2953636"/>
              </a:tblGrid>
              <a:tr h="252095">
                <a:tc gridSpan="2">
                  <a:txBody>
                    <a:bodyPr/>
                    <a:lstStyle/>
                    <a:p>
                      <a:pPr algn="ctr">
                        <a:buClrTx/>
                        <a:buSzTx/>
                        <a:buNone/>
                      </a:pPr>
                      <a:r>
                        <a:rPr lang="en-US" altLang="zh-CN" sz="1000" b="1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.dynamic</a:t>
                      </a:r>
                      <a:endParaRPr lang="en-US" altLang="zh-CN" sz="1000" b="1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d_tag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d_val/d_ptr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1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DT_NEEDED: 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依赖库名在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.dynstr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中的偏移</a:t>
                      </a:r>
                      <a:endParaRPr lang="zh-CN" altLang="en-US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5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DT_STRTAB:  </a:t>
                      </a:r>
                      <a:r>
                        <a:rPr lang="zh-CN" altLang="en-US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动态链接字符串表地址</a:t>
                      </a:r>
                      <a:endParaRPr lang="zh-CN" altLang="en-US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6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DT_SYMTAB: 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动态链接符号表地址</a:t>
                      </a:r>
                      <a:endParaRPr lang="zh-CN" altLang="en-US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10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DT_STRSZ: 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动态链接字符串表大小</a:t>
                      </a:r>
                      <a:endParaRPr lang="zh-CN" altLang="en-US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11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DT_SYMENT: 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动态链接符号表每条目大小</a:t>
                      </a:r>
                      <a:endParaRPr lang="zh-CN" altLang="en-US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3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DT_PLTGOT: 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全局偏移表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(.got.plt)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地址</a:t>
                      </a:r>
                      <a:endParaRPr lang="zh-CN" altLang="en-US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17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DT_JMPREL: .rela.plt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地址</a:t>
                      </a:r>
                      <a:endParaRPr lang="zh-CN" altLang="en-US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93700" y="184770"/>
            <a:ext cx="4413506" cy="595630"/>
          </a:xfrm>
        </p:spPr>
        <p:txBody>
          <a:bodyPr>
            <a:normAutofit/>
          </a:bodyPr>
          <a:lstStyle/>
          <a:p>
            <a:pPr algn="l"/>
            <a:r>
              <a:rPr lang="en-US" altLang="zh-CN" sz="3200" b="1" spc="300" dirty="0" err="1">
                <a:solidFill>
                  <a:srgbClr val="5C52BA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link_map</a:t>
            </a:r>
            <a:endParaRPr lang="en-US" altLang="zh-CN" sz="32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" y="990685"/>
            <a:ext cx="4795061" cy="171368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80335" y="2914650"/>
            <a:ext cx="5889054" cy="3359150"/>
            <a:chOff x="80335" y="2914650"/>
            <a:chExt cx="5889054" cy="3359150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335" y="2914650"/>
              <a:ext cx="5889054" cy="3359150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>
            <a:xfrm>
              <a:off x="1665604" y="3916247"/>
              <a:ext cx="4227196" cy="2357553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222613" y="1690572"/>
            <a:ext cx="5839248" cy="3968750"/>
            <a:chOff x="5435212" y="5453295"/>
            <a:chExt cx="5839248" cy="3968750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35212" y="5453295"/>
              <a:ext cx="5839248" cy="3968750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6139250" y="6665177"/>
              <a:ext cx="4471599" cy="2756867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7209790" y="703665"/>
          <a:ext cx="4502151" cy="46877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0978"/>
                <a:gridCol w="1525587"/>
                <a:gridCol w="1525586"/>
              </a:tblGrid>
              <a:tr h="275751">
                <a:tc>
                  <a:txBody>
                    <a:bodyPr/>
                    <a:lstStyle/>
                    <a:p>
                      <a:pPr algn="r"/>
                      <a:endParaRPr lang="zh-CN" altLang="en-US" sz="10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ym typeface="Wingdings" panose="05000000000000000000" pitchFamily="2" charset="2"/>
                        </a:rPr>
                        <a:t>&lt;----         8B           ----&gt;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dirty="0">
                          <a:sym typeface="Wingdings" panose="05000000000000000000" pitchFamily="2" charset="2"/>
                        </a:rPr>
                        <a:t>&lt;----         8B           ----&gt;</a:t>
                      </a:r>
                      <a:endParaRPr lang="zh-CN" alt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5751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b="1" dirty="0"/>
                        <a:t>.</a:t>
                      </a:r>
                      <a:r>
                        <a:rPr lang="en-US" altLang="zh-CN" sz="1000" b="1" dirty="0" err="1"/>
                        <a:t>got.plt</a:t>
                      </a:r>
                      <a:endParaRPr lang="zh-CN" altLang="en-US" sz="10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.dynamic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&amp;</a:t>
                      </a:r>
                      <a:r>
                        <a:rPr lang="en-US" altLang="zh-CN" sz="1000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link_map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75751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b="1" dirty="0">
                          <a:solidFill>
                            <a:srgbClr val="FF0000"/>
                          </a:solidFill>
                        </a:rPr>
                        <a:t>fake .dynsym</a:t>
                      </a:r>
                      <a:endParaRPr lang="en-US" altLang="zh-CN" sz="1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_</a:t>
                      </a:r>
                      <a:r>
                        <a:rPr lang="en-US" altLang="zh-CN" sz="1000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dl_runtime_resolve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dirty="0" err="1"/>
                        <a:t>func</a:t>
                      </a:r>
                      <a:r>
                        <a:rPr lang="en-US" altLang="zh-CN" sz="1000" dirty="0"/>
                        <a:t>[1]</a:t>
                      </a:r>
                      <a:endParaRPr lang="zh-CN" altLang="en-US" sz="1000" dirty="0"/>
                    </a:p>
                  </a:txBody>
                  <a:tcPr/>
                </a:tc>
              </a:tr>
              <a:tr h="275751">
                <a:tc>
                  <a:txBody>
                    <a:bodyPr/>
                    <a:lstStyle/>
                    <a:p>
                      <a:pPr algn="r"/>
                      <a:endParaRPr lang="zh-CN" altLang="en-US" sz="10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/>
                </a:tc>
              </a:tr>
              <a:tr h="275751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b="1" dirty="0"/>
                        <a:t>.</a:t>
                      </a:r>
                      <a:r>
                        <a:rPr lang="en-US" altLang="zh-CN" sz="1000" b="1" dirty="0" err="1"/>
                        <a:t>bss</a:t>
                      </a:r>
                      <a:endParaRPr lang="zh-CN" altLang="en-US" sz="10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/>
                </a:tc>
              </a:tr>
              <a:tr h="275751">
                <a:tc>
                  <a:txBody>
                    <a:bodyPr/>
                    <a:lstStyle/>
                    <a:p>
                      <a:pPr algn="r"/>
                      <a:endParaRPr lang="zh-CN" altLang="en-US" sz="10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…</a:t>
                      </a:r>
                      <a:endParaRPr lang="zh-CN" altLang="en-US" sz="1000" dirty="0"/>
                    </a:p>
                  </a:txBody>
                  <a:tcPr/>
                </a:tc>
              </a:tr>
              <a:tr h="275751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b="1" dirty="0">
                          <a:solidFill>
                            <a:srgbClr val="FF0000"/>
                          </a:solidFill>
                        </a:rPr>
                        <a:t>fake </a:t>
                      </a:r>
                      <a:r>
                        <a:rPr lang="en-US" altLang="zh-CN" sz="1000" b="1" dirty="0" err="1">
                          <a:solidFill>
                            <a:srgbClr val="FF0000"/>
                          </a:solidFill>
                        </a:rPr>
                        <a:t>link_map</a:t>
                      </a:r>
                      <a:endParaRPr lang="zh-CN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rgbClr val="FF0000"/>
                          </a:solidFill>
                        </a:rPr>
                        <a:t>l_addr</a:t>
                      </a:r>
                      <a:endParaRPr lang="en-US" altLang="zh-CN" sz="1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...</a:t>
                      </a:r>
                      <a:endParaRPr lang="zh-CN" altLang="en-US" sz="1000" dirty="0"/>
                    </a:p>
                  </a:txBody>
                  <a:tcPr/>
                </a:tc>
              </a:tr>
              <a:tr h="275751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b="1" dirty="0" err="1">
                          <a:solidFill>
                            <a:srgbClr val="FF0000"/>
                          </a:solidFill>
                        </a:rPr>
                        <a:t>fake .dynamic entry</a:t>
                      </a:r>
                      <a:endParaRPr lang="en-US" altLang="zh-CN" sz="1000" b="1" dirty="0" err="1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rgbClr val="FF0000"/>
                          </a:solidFill>
                        </a:rPr>
                        <a:t>DT_STRTAB(5)</a:t>
                      </a:r>
                      <a:endParaRPr lang="en-US" altLang="zh-CN" sz="1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err="1">
                          <a:solidFill>
                            <a:srgbClr val="FF0000"/>
                          </a:solidFill>
                        </a:rPr>
                        <a:t>NULL</a:t>
                      </a:r>
                      <a:endParaRPr lang="en-US" altLang="zh-CN" sz="1000" dirty="0" err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275751">
                <a:tc>
                  <a:txBody>
                    <a:bodyPr/>
                    <a:lstStyle/>
                    <a:p>
                      <a:pPr algn="r"/>
                      <a:endParaRPr lang="zh-CN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rgbClr val="FF0000"/>
                          </a:solidFill>
                        </a:rPr>
                        <a:t>DT_SYMTAB(6)</a:t>
                      </a:r>
                      <a:endParaRPr lang="en-US" altLang="zh-CN" sz="1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rgbClr val="FF0000"/>
                          </a:solidFill>
                        </a:rPr>
                        <a:t>got_addr</a:t>
                      </a:r>
                      <a:endParaRPr lang="en-US" altLang="zh-CN" sz="1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275751">
                <a:tc>
                  <a:txBody>
                    <a:bodyPr/>
                    <a:lstStyle/>
                    <a:p>
                      <a:pPr algn="r"/>
                      <a:endParaRPr lang="zh-CN" altLang="en-US" sz="10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rgbClr val="FF0000"/>
                          </a:solidFill>
                        </a:rPr>
                        <a:t>DT_JMPREL(23)</a:t>
                      </a:r>
                      <a:endParaRPr lang="en-US" altLang="zh-CN" sz="1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rgbClr val="FF0000"/>
                          </a:solidFill>
                        </a:rPr>
                        <a:t>fake_rela_plt</a:t>
                      </a:r>
                      <a:endParaRPr lang="en-US" altLang="zh-CN" sz="1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275751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fake .</a:t>
                      </a:r>
                      <a:r>
                        <a:rPr lang="en-US" altLang="zh-CN" sz="1000" b="1" kern="120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rela.plt</a:t>
                      </a:r>
                      <a:endParaRPr lang="zh-CN" altLang="en-US" sz="10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r_offset</a:t>
                      </a:r>
                      <a:endParaRPr lang="en-US" altLang="zh-CN" sz="10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rgbClr val="FF0000"/>
                          </a:solidFill>
                        </a:rPr>
                        <a:t>0x7</a:t>
                      </a:r>
                      <a:endParaRPr lang="zh-CN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275751">
                <a:tc>
                  <a:txBody>
                    <a:bodyPr/>
                    <a:lstStyle/>
                    <a:p>
                      <a:pPr algn="r"/>
                      <a:endParaRPr lang="zh-CN" altLang="en-US" sz="10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altLang="zh-CN" sz="1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...</a:t>
                      </a:r>
                      <a:endParaRPr lang="zh-CN" altLang="en-US" sz="1000" dirty="0"/>
                    </a:p>
                  </a:txBody>
                  <a:tcPr/>
                </a:tc>
              </a:tr>
              <a:tr h="275751">
                <a:tc>
                  <a:txBody>
                    <a:bodyPr/>
                    <a:lstStyle/>
                    <a:p>
                      <a:pPr algn="r"/>
                      <a:endParaRPr lang="zh-CN" altLang="en-US" sz="10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...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rgbClr val="FF0000"/>
                          </a:solidFill>
                        </a:rPr>
                        <a:t>l_info[DT_STRTAB]</a:t>
                      </a:r>
                      <a:endParaRPr lang="en-US" altLang="zh-CN" sz="1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275751">
                <a:tc>
                  <a:txBody>
                    <a:bodyPr/>
                    <a:lstStyle/>
                    <a:p>
                      <a:pPr algn="r"/>
                      <a:endParaRPr lang="zh-CN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rgbClr val="FF0000"/>
                          </a:solidFill>
                        </a:rPr>
                        <a:t>l_info[DT_SYMTAB]</a:t>
                      </a:r>
                      <a:endParaRPr lang="en-US" altLang="zh-CN" sz="1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...</a:t>
                      </a:r>
                      <a:endParaRPr lang="zh-CN" altLang="en-US" sz="1000" dirty="0"/>
                    </a:p>
                  </a:txBody>
                  <a:tcPr/>
                </a:tc>
              </a:tr>
              <a:tr h="275751">
                <a:tc>
                  <a:txBody>
                    <a:bodyPr/>
                    <a:lstStyle/>
                    <a:p>
                      <a:pPr algn="r"/>
                      <a:endParaRPr lang="zh-CN" altLang="en-US" sz="10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...</a:t>
                      </a:r>
                      <a:endParaRPr lang="en-US" altLang="zh-CN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...</a:t>
                      </a:r>
                      <a:endParaRPr lang="en-US" altLang="zh-CN" sz="1000" dirty="0"/>
                    </a:p>
                  </a:txBody>
                  <a:tcPr/>
                </a:tc>
              </a:tr>
              <a:tr h="275751">
                <a:tc>
                  <a:txBody>
                    <a:bodyPr/>
                    <a:lstStyle/>
                    <a:p>
                      <a:pPr algn="r"/>
                      <a:endParaRPr lang="zh-CN" altLang="en-US" sz="10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...</a:t>
                      </a:r>
                      <a:endParaRPr lang="en-US" altLang="zh-CN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...</a:t>
                      </a:r>
                      <a:endParaRPr lang="en-US" altLang="zh-CN" sz="1000" dirty="0"/>
                    </a:p>
                  </a:txBody>
                  <a:tcPr/>
                </a:tc>
              </a:tr>
              <a:tr h="275751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b="1" dirty="0">
                          <a:solidFill>
                            <a:srgbClr val="FF0000"/>
                          </a:solidFill>
                        </a:rPr>
                        <a:t>+0xf0</a:t>
                      </a:r>
                      <a:endParaRPr lang="en-US" altLang="zh-CN" sz="1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...</a:t>
                      </a:r>
                      <a:endParaRPr lang="en-US" altLang="zh-CN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rgbClr val="FF0000"/>
                          </a:solidFill>
                        </a:rPr>
                        <a:t>l_info[DT_JMPREL]</a:t>
                      </a:r>
                      <a:endParaRPr lang="en-US" altLang="zh-CN" sz="1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200" y="1196975"/>
            <a:ext cx="6811645" cy="4194175"/>
          </a:xfrm>
          <a:prstGeom prst="rect">
            <a:avLst/>
          </a:prstGeom>
        </p:spPr>
      </p:pic>
      <p:graphicFrame>
        <p:nvGraphicFramePr>
          <p:cNvPr id="20" name="表格 19"/>
          <p:cNvGraphicFramePr/>
          <p:nvPr>
            <p:custDataLst>
              <p:tags r:id="rId2"/>
            </p:custDataLst>
          </p:nvPr>
        </p:nvGraphicFramePr>
        <p:xfrm>
          <a:off x="6505001" y="5793040"/>
          <a:ext cx="4834910" cy="10147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0742"/>
                <a:gridCol w="1524732"/>
                <a:gridCol w="1044171"/>
                <a:gridCol w="504886"/>
                <a:gridCol w="1460379"/>
              </a:tblGrid>
              <a:tr h="251460">
                <a:tc gridSpan="5">
                  <a:txBody>
                    <a:bodyPr/>
                    <a:lstStyle/>
                    <a:p>
                      <a:pPr algn="ctr">
                        <a:buClrTx/>
                        <a:buSz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.rela.plt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000" b="1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r_offset</a:t>
                      </a:r>
                      <a:endParaRPr lang="en-US" altLang="zh-CN" sz="1000" b="1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r_info</a:t>
                      </a:r>
                      <a:endParaRPr lang="en-US" altLang="zh-CN" sz="1000" b="1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r_addend</a:t>
                      </a:r>
                      <a:endParaRPr lang="en-US" altLang="zh-CN" sz="1000" b="1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[0]</a:t>
                      </a:r>
                      <a:endParaRPr lang="en-US" altLang="zh-CN" sz="1000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write_back_addr</a:t>
                      </a:r>
                      <a:endParaRPr lang="en-US" altLang="zh-CN" sz="1000" dirty="0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.</a:t>
                      </a:r>
                      <a:r>
                        <a:rPr lang="en-US" altLang="zh-CN" sz="1000" dirty="0" err="1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dynsym</a:t>
                      </a:r>
                      <a:r>
                        <a:rPr lang="en-US" altLang="zh-CN" sz="1000" dirty="0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 index(0)</a:t>
                      </a:r>
                      <a:endParaRPr lang="en-US" altLang="zh-CN" sz="1000" dirty="0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 err="1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type(7)</a:t>
                      </a:r>
                      <a:endParaRPr lang="en-US" altLang="zh-CN" sz="1000" dirty="0" err="1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addend_offset(0)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表格 20"/>
          <p:cNvGraphicFramePr/>
          <p:nvPr>
            <p:custDataLst>
              <p:tags r:id="rId3"/>
            </p:custDataLst>
          </p:nvPr>
        </p:nvGraphicFramePr>
        <p:xfrm>
          <a:off x="838526" y="5793406"/>
          <a:ext cx="4834910" cy="9829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5550"/>
                <a:gridCol w="777600"/>
                <a:gridCol w="208280"/>
                <a:gridCol w="208280"/>
                <a:gridCol w="439200"/>
                <a:gridCol w="1476000"/>
                <a:gridCol w="1440000"/>
              </a:tblGrid>
              <a:tr h="251460">
                <a:tc gridSpan="7">
                  <a:txBody>
                    <a:bodyPr/>
                    <a:lstStyle/>
                    <a:p>
                      <a:pPr algn="ctr">
                        <a:buClrTx/>
                        <a:buSz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.dynsym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st_name</a:t>
                      </a:r>
                      <a:r>
                        <a:rPr lang="en-US" altLang="zh-CN" sz="1000" b="1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/info/other/</a:t>
                      </a:r>
                      <a:r>
                        <a:rPr lang="en-US" altLang="zh-CN" sz="1000" b="1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shndx</a:t>
                      </a:r>
                      <a:endParaRPr lang="en-US" altLang="zh-CN" sz="1000" b="1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st_value</a:t>
                      </a:r>
                      <a:endParaRPr lang="en-US" altLang="zh-CN" sz="1000" b="1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 dirty="0" err="1">
                          <a:latin typeface="华文楷体" panose="02010600040101010101" charset="-122"/>
                          <a:ea typeface="华文楷体" panose="02010600040101010101" charset="-122"/>
                        </a:rPr>
                        <a:t>st_size</a:t>
                      </a:r>
                      <a:endParaRPr lang="en-US" altLang="zh-CN" sz="1000" b="1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[0]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 dirty="0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…</a:t>
                      </a:r>
                      <a:endParaRPr lang="en-US" altLang="zh-CN" sz="1000" dirty="0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…</a:t>
                      </a:r>
                      <a:endParaRPr lang="en-US" altLang="zh-CN" sz="1000" dirty="0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dirty="0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非</a:t>
                      </a:r>
                      <a:r>
                        <a:rPr lang="en-US" altLang="zh-CN" sz="1000" dirty="0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0</a:t>
                      </a:r>
                      <a:endParaRPr lang="en-US" altLang="zh-CN" sz="1000" dirty="0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dirty="0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got_libc_address</a:t>
                      </a:r>
                      <a:endParaRPr lang="en-US" altLang="zh-CN" sz="1000" b="0" dirty="0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93700" y="184770"/>
            <a:ext cx="4413506" cy="59563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200" b="1" spc="300" dirty="0" err="1">
                <a:solidFill>
                  <a:srgbClr val="5C52BA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link_map</a:t>
            </a:r>
            <a:endParaRPr lang="en-US" altLang="zh-CN" sz="32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729980" y="1303020"/>
            <a:ext cx="2923540" cy="17081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肘形连接符 4"/>
          <p:cNvCxnSpPr>
            <a:endCxn id="16" idx="3"/>
          </p:cNvCxnSpPr>
          <p:nvPr/>
        </p:nvCxnSpPr>
        <p:spPr>
          <a:xfrm rot="16200000">
            <a:off x="10661650" y="2039620"/>
            <a:ext cx="1642745" cy="340360"/>
          </a:xfrm>
          <a:prstGeom prst="bentConnector4">
            <a:avLst>
              <a:gd name="adj1" fmla="val 135"/>
              <a:gd name="adj2" fmla="val 210727"/>
            </a:avLst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>
            <a:off x="9865995" y="3328670"/>
            <a:ext cx="675640" cy="25844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221740" y="2130425"/>
            <a:ext cx="3492500" cy="1298575"/>
          </a:xfrm>
        </p:spPr>
        <p:txBody>
          <a:bodyPr wrap="square">
            <a:normAutofit fontScale="90000"/>
          </a:bodyPr>
          <a:lstStyle/>
          <a:p>
            <a:r>
              <a:rPr lang="en-US" altLang="zh-CN"/>
              <a:t>THANK YOU !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1704340" y="118110"/>
          <a:ext cx="2103120" cy="66615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</a:tblGrid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LOAD: </a:t>
                      </a:r>
                      <a:r>
                        <a:rPr lang="en-US" altLang="zh-CN" sz="1000" b="1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R</a:t>
                      </a:r>
                      <a:endParaRPr lang="en-US" altLang="zh-CN" sz="1000" b="1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(ELF Header)</a:t>
                      </a:r>
                      <a:endParaRPr lang="zh-CN" altLang="en-US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PHDR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程序头表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INTERP</a:t>
                      </a:r>
                      <a:endParaRPr lang="en-US" altLang="zh-CN" sz="1000" b="1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.interp</a:t>
                      </a:r>
                      <a:endParaRPr lang="en-US" altLang="zh-CN" sz="1000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解释器字符串</a:t>
                      </a: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2BE"/>
                    </a:solidFill>
                  </a:tcPr>
                </a:tc>
              </a:tr>
              <a:tr h="2355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NOTE\GNU_PROPERTY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.note(.gnu)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  <a:sym typeface="+mn-ea"/>
                        </a:rPr>
                        <a:t>.gnu.hash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.dynsym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动态链接符号表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.dynstr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动态链接字符串表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355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.gnu.version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.rela.dyn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数据动态链接重定位表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, 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对应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.got)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.rela.plt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过程动态链接重定位表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, 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对应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.got.plt)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LOAD: </a:t>
                      </a:r>
                      <a:r>
                        <a:rPr lang="en-US" altLang="zh-CN" sz="1000" b="1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RE</a:t>
                      </a:r>
                      <a:endParaRPr lang="en-US" altLang="zh-CN" sz="1000" b="1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.init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.plt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解析器桩及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plt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备用桩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.plt.sec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(plt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桩代码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.text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.finit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LOAD: </a:t>
                      </a:r>
                      <a:r>
                        <a:rPr lang="en-US" altLang="zh-CN" sz="1000" b="1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R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.rodata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  <a:sym typeface="+mn-ea"/>
                        </a:rPr>
                        <a:t>GNU_EH_FRAME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  <a:sym typeface="+mn-ea"/>
                        </a:rPr>
                        <a:t>.eh_frame_hdr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  <a:sym typeface="+mn-ea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ECC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  <a:sym typeface="+mn-ea"/>
                        </a:rPr>
                        <a:t>.eh_frame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LOAD: </a:t>
                      </a:r>
                      <a:r>
                        <a:rPr lang="en-US" altLang="zh-CN" sz="1000" b="1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RW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 b="0">
                          <a:latin typeface="华文楷体" panose="02010600040101010101" charset="-122"/>
                          <a:ea typeface="华文楷体" panose="02010600040101010101" charset="-122"/>
                        </a:rPr>
                        <a:t>(.init_array</a:t>
                      </a:r>
                      <a:r>
                        <a:rPr lang="zh-CN" altLang="en-US" sz="1000" b="0">
                          <a:latin typeface="华文楷体" panose="02010600040101010101" charset="-122"/>
                          <a:ea typeface="华文楷体" panose="02010600040101010101" charset="-122"/>
                        </a:rPr>
                        <a:t>、</a:t>
                      </a:r>
                      <a:r>
                        <a:rPr lang="en-US" altLang="zh-CN" sz="1000" b="0">
                          <a:latin typeface="华文楷体" panose="02010600040101010101" charset="-122"/>
                          <a:ea typeface="华文楷体" panose="02010600040101010101" charset="-122"/>
                        </a:rPr>
                        <a:t>.fini_array)</a:t>
                      </a:r>
                      <a:endParaRPr lang="en-US" altLang="zh-CN" sz="1000" b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.dynamic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动态链接表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.got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数据全局偏移表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.got.plt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过程全局偏移表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.data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、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.bss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0" marR="0" marT="0" marB="0"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/>
          <p:nvPr>
            <p:custDataLst>
              <p:tags r:id="rId2"/>
            </p:custDataLst>
          </p:nvPr>
        </p:nvGraphicFramePr>
        <p:xfrm>
          <a:off x="73025" y="5333365"/>
          <a:ext cx="1564005" cy="14465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64005"/>
              </a:tblGrid>
              <a:tr h="105029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GNU_RELRO: </a:t>
                      </a:r>
                      <a:r>
                        <a:rPr lang="en-US" altLang="zh-CN" sz="1000" b="1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R</a:t>
                      </a:r>
                      <a:endParaRPr lang="en-US" altLang="zh-CN" sz="1000" b="1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>
                          <a:solidFill>
                            <a:schemeClr val="accent6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(No RELRO)</a:t>
                      </a:r>
                      <a:endParaRPr lang="en-US" altLang="zh-CN" sz="1000" b="0">
                        <a:solidFill>
                          <a:schemeClr val="accent6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.init_array</a:t>
                      </a:r>
                      <a:endParaRPr lang="en-US" altLang="zh-CN" sz="1000" b="0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(Partial RELRO)</a:t>
                      </a:r>
                      <a:endParaRPr lang="en-US" altLang="zh-CN" sz="1000" b="0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.got[3]</a:t>
                      </a:r>
                      <a:endParaRPr lang="en-US" altLang="zh-CN" sz="1000" b="0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(Full RELRO)</a:t>
                      </a:r>
                      <a:endParaRPr lang="en-US" altLang="zh-CN" sz="1000" b="0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solidFill>
                      <a:srgbClr val="BEEFEB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GNU_STACK: </a:t>
                      </a:r>
                      <a:r>
                        <a:rPr lang="en-US" altLang="zh-CN" sz="1000" b="1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RWX/RW</a:t>
                      </a:r>
                      <a:endParaRPr lang="en-US" altLang="zh-CN" sz="1000" b="1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>
                          <a:solidFill>
                            <a:schemeClr val="accent6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(NX)</a:t>
                      </a:r>
                      <a:endParaRPr lang="en-US" altLang="zh-CN" sz="1000" b="0">
                        <a:solidFill>
                          <a:schemeClr val="accent6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表格 16"/>
          <p:cNvGraphicFramePr/>
          <p:nvPr>
            <p:custDataLst>
              <p:tags r:id="rId3"/>
            </p:custDataLst>
          </p:nvPr>
        </p:nvGraphicFramePr>
        <p:xfrm>
          <a:off x="4346575" y="5557520"/>
          <a:ext cx="1527175" cy="1222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1310"/>
                <a:gridCol w="1205865"/>
              </a:tblGrid>
              <a:tr h="243840">
                <a:tc gridSpan="2">
                  <a:txBody>
                    <a:bodyPr/>
                    <a:lstStyle/>
                    <a:p>
                      <a:pPr algn="ctr">
                        <a:buClrTx/>
                        <a:buSz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.got.plt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[0]</a:t>
                      </a:r>
                      <a:endParaRPr lang="en-US" altLang="zh-CN"/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.dynamic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[1]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link_map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[2]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_dl_runtime_resolve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.plt[n+1]/func[n]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表格 17"/>
          <p:cNvGraphicFramePr/>
          <p:nvPr>
            <p:custDataLst>
              <p:tags r:id="rId4"/>
            </p:custDataLst>
          </p:nvPr>
        </p:nvGraphicFramePr>
        <p:xfrm>
          <a:off x="4346575" y="1041400"/>
          <a:ext cx="3282950" cy="24466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9265"/>
                <a:gridCol w="2813685"/>
              </a:tblGrid>
              <a:tr h="252095">
                <a:tc gridSpan="2">
                  <a:txBody>
                    <a:bodyPr/>
                    <a:lstStyle/>
                    <a:p>
                      <a:pPr algn="ctr">
                        <a:buClrTx/>
                        <a:buSz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.dynamic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d_tag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d_val/d_ptr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1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DT_NEEDED: 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依赖库名在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.dynstr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中的偏移</a:t>
                      </a:r>
                      <a:endParaRPr lang="zh-CN" altLang="en-US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5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DT_STRTAB:  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动态链接字符串表地址</a:t>
                      </a:r>
                      <a:endParaRPr lang="zh-CN" altLang="en-US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6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DT_SYMTAB: 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动态链接符号表地址</a:t>
                      </a:r>
                      <a:endParaRPr lang="zh-CN" altLang="en-US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10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DT_STRSZ: 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动态链接字符串表大小</a:t>
                      </a:r>
                      <a:endParaRPr lang="zh-CN" altLang="en-US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11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DT_SYMENT: 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动态链接符号表每条目大小</a:t>
                      </a:r>
                      <a:endParaRPr lang="zh-CN" altLang="en-US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3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DT_PLTGOT: 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全局偏移表</a:t>
                      </a: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(.got.plt)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地址</a:t>
                      </a:r>
                      <a:endParaRPr lang="zh-CN" altLang="en-US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17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DT_JMPREL: .rela.plt</a:t>
                      </a:r>
                      <a:r>
                        <a:rPr lang="zh-CN" altLang="en-US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地址</a:t>
                      </a:r>
                      <a:endParaRPr lang="zh-CN" altLang="en-US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表格 18"/>
          <p:cNvGraphicFramePr/>
          <p:nvPr>
            <p:custDataLst>
              <p:tags r:id="rId5"/>
            </p:custDataLst>
          </p:nvPr>
        </p:nvGraphicFramePr>
        <p:xfrm>
          <a:off x="4338955" y="3927475"/>
          <a:ext cx="1527175" cy="152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1310"/>
                <a:gridCol w="1205865"/>
              </a:tblGrid>
              <a:tr h="243840">
                <a:tc gridSpan="2">
                  <a:txBody>
                    <a:bodyPr/>
                    <a:lstStyle/>
                    <a:p>
                      <a:pPr algn="ctr">
                        <a:buClrTx/>
                        <a:buSz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.plt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[0]</a:t>
                      </a:r>
                      <a:endParaRPr lang="en-US" altLang="zh-CN"/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push got[1];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jmp got[2];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push n;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jmp plt[0];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44800">
                <a:tc gridSpan="2"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.plt.sec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448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[n]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jmp got[n+3]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表格 19"/>
          <p:cNvGraphicFramePr/>
          <p:nvPr>
            <p:custDataLst>
              <p:tags r:id="rId6"/>
            </p:custDataLst>
          </p:nvPr>
        </p:nvGraphicFramePr>
        <p:xfrm>
          <a:off x="8196580" y="2480945"/>
          <a:ext cx="3477895" cy="10071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3690"/>
                <a:gridCol w="716915"/>
                <a:gridCol w="920750"/>
                <a:gridCol w="497840"/>
                <a:gridCol w="1028700"/>
              </a:tblGrid>
              <a:tr h="243840">
                <a:tc gridSpan="5">
                  <a:txBody>
                    <a:bodyPr/>
                    <a:lstStyle/>
                    <a:p>
                      <a:pPr algn="ctr">
                        <a:buClrTx/>
                        <a:buSz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.rela.plt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r_offset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r_info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r_addend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[0]</a:t>
                      </a:r>
                      <a:endParaRPr lang="en-US" altLang="zh-CN" sz="1000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&amp;got[n+3]</a:t>
                      </a:r>
                      <a:endParaRPr lang="en-US" altLang="zh-CN" sz="1000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.dynsym index</a:t>
                      </a:r>
                      <a:endParaRPr lang="en-US" altLang="zh-CN" sz="1000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type(7)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addend_offset(0)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表格 20"/>
          <p:cNvGraphicFramePr/>
          <p:nvPr>
            <p:custDataLst>
              <p:tags r:id="rId7"/>
            </p:custDataLst>
          </p:nvPr>
        </p:nvGraphicFramePr>
        <p:xfrm>
          <a:off x="8514715" y="1315085"/>
          <a:ext cx="2706370" cy="975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1465"/>
                <a:gridCol w="861060"/>
                <a:gridCol w="895985"/>
                <a:gridCol w="408305"/>
                <a:gridCol w="249555"/>
              </a:tblGrid>
              <a:tr h="243840">
                <a:tc gridSpan="5">
                  <a:txBody>
                    <a:bodyPr/>
                    <a:lstStyle/>
                    <a:p>
                      <a:pPr algn="ctr">
                        <a:buClrTx/>
                        <a:buSz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.dynsym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st_name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st_info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[0]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solidFill>
                            <a:srgbClr val="FF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.dynstr offset</a:t>
                      </a:r>
                      <a:endParaRPr lang="en-US" altLang="zh-CN" sz="1000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binding(g/l/w)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type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latin typeface="华文楷体" panose="02010600040101010101" charset="-122"/>
                          <a:ea typeface="华文楷体" panose="02010600040101010101" charset="-122"/>
                        </a:rPr>
                        <a:t>...</a:t>
                      </a:r>
                      <a:endParaRPr lang="en-US" altLang="zh-CN" sz="10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表格 21"/>
          <p:cNvGraphicFramePr/>
          <p:nvPr>
            <p:custDataLst>
              <p:tags r:id="rId8"/>
            </p:custDataLst>
          </p:nvPr>
        </p:nvGraphicFramePr>
        <p:xfrm>
          <a:off x="9397365" y="240665"/>
          <a:ext cx="941070" cy="883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1070"/>
              </a:tblGrid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.dynstr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0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‘string1’,   0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" name="表格 1"/>
          <p:cNvGraphicFramePr/>
          <p:nvPr>
            <p:custDataLst>
              <p:tags r:id="rId9"/>
            </p:custDataLst>
          </p:nvPr>
        </p:nvGraphicFramePr>
        <p:xfrm>
          <a:off x="6235700" y="4445635"/>
          <a:ext cx="1156970" cy="15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6970"/>
              </a:tblGrid>
              <a:tr h="243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None/>
                      </a:pPr>
                      <a:r>
                        <a:rPr lang="en-US" altLang="zh-CN" sz="10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link_map</a:t>
                      </a:r>
                      <a:endParaRPr lang="en-US" altLang="zh-CN" sz="10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l_addr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2CA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l_name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2CA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l_ld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2CA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link_map* next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2CA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link_map* prev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2C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2C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10"/>
            </p:custDataLst>
          </p:nvPr>
        </p:nvGraphicFramePr>
        <p:xfrm>
          <a:off x="7754620" y="3927475"/>
          <a:ext cx="4227830" cy="2042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27830"/>
              </a:tblGrid>
              <a:tr h="120015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_dl_runtime_resolve(link_map, reloc_index):</a:t>
                      </a:r>
                      <a:endParaRPr lang="en-US" altLang="zh-CN" sz="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......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</a:t>
                      </a:r>
                      <a:r>
                        <a:rPr lang="en-US" altLang="zh-CN" sz="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_dl_fixup(link_map, reloc_index):</a:t>
                      </a:r>
                      <a:endParaRPr lang="en-US" altLang="zh-CN" sz="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</a:t>
                      </a:r>
                      <a:r>
                        <a:rPr lang="en-US" altLang="zh-CN" sz="800" b="0" i="1">
                          <a:latin typeface="微软雅黑" panose="020B0503020204020204" charset="-122"/>
                          <a:ea typeface="微软雅黑" panose="020B0503020204020204" charset="-122"/>
                        </a:rPr>
                        <a:t>// get the string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link_map -&gt; .dynamic -&gt; .rela.plt[reloc_index] 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-&gt; .dynsym[index] -&gt; .dynstr[offset]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</a:t>
                      </a:r>
                      <a:r>
                        <a:rPr lang="en-US" altLang="zh-CN" sz="800" i="1">
                          <a:latin typeface="微软雅黑" panose="020B0503020204020204" charset="-122"/>
                          <a:ea typeface="微软雅黑" panose="020B0503020204020204" charset="-122"/>
                        </a:rPr>
                        <a:t>// iterate the link_map to get the base address and the offset of the symbol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</a:t>
                      </a:r>
                      <a:r>
                        <a:rPr lang="en-US" altLang="zh-CN" sz="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_dl_lookup_symbol_x(.dynstr[offset], link_map, &amp;sym_offset):</a:t>
                      </a:r>
                      <a:endParaRPr lang="en-US" altLang="zh-CN" sz="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      link_map -&gt; target_link_map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      *sym_offset = ElfW.symbols[string]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target_addr = target_link_map-&gt;l_addr + *sym_offset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</a:t>
                      </a:r>
                      <a:r>
                        <a:rPr lang="en-US" altLang="zh-CN" sz="800" b="0" i="1">
                          <a:latin typeface="微软雅黑" panose="020B0503020204020204" charset="-122"/>
                          <a:ea typeface="微软雅黑" panose="020B0503020204020204" charset="-122"/>
                        </a:rPr>
                        <a:t>// write the address back to got entry</a:t>
                      </a:r>
                      <a:endParaRPr lang="en-US" altLang="zh-CN" sz="800" b="0" i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</a:t>
                      </a:r>
                      <a:r>
                        <a:rPr lang="en-US" altLang="zh-CN" sz="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elf_machine_fixup_plt(target_addr):</a:t>
                      </a:r>
                      <a:endParaRPr lang="en-US" altLang="zh-CN" sz="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      target_addr -&gt; got[n]</a:t>
                      </a:r>
                      <a:endParaRPr lang="en-US" altLang="zh-CN" sz="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</a:t>
                      </a:r>
                      <a:r>
                        <a:rPr lang="en-US" altLang="zh-CN" sz="800" b="0" i="1">
                          <a:latin typeface="微软雅黑" panose="020B0503020204020204" charset="-122"/>
                          <a:ea typeface="微软雅黑" panose="020B0503020204020204" charset="-122"/>
                        </a:rPr>
                        <a:t>// jump to the function</a:t>
                      </a:r>
                      <a:endParaRPr lang="en-US" altLang="zh-CN" sz="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8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      </a:t>
                      </a:r>
                      <a:r>
                        <a:rPr lang="en-US" altLang="zh-CN" sz="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jmp target_addr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UNIT_TYPE" val="i"/>
  <p:tag name="KSO_WM_UNIT_INDEX" val="2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2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9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CATEGORY" val="custom"/>
  <p:tag name="KSO_WM_TEMPLATE_INDEX" val="20230980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40"/>
  <p:tag name="KSO_WM_UNIT_TYPE" val="f"/>
  <p:tag name="KSO_WM_UNIT_INDEX" val="1"/>
  <p:tag name="KSO_WM_TEMPLATE_CATEGORY" val="custom"/>
  <p:tag name="KSO_WM_TEMPLATE_INDEX" val="20230980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980"/>
  <p:tag name="KSO_WM_TEMPLATE_THUMBS_INDEX" val="1、9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UNIT_TYPE" val="i"/>
  <p:tag name="KSO_WM_UNIT_INDEX" val="2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8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UNIT_TYPE" val="i"/>
  <p:tag name="KSO_WM_UNIT_INDEX" val="2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8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9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9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2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CATEGORY" val="custom"/>
  <p:tag name="KSO_WM_TEMPLATE_INDEX" val="20230980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40"/>
  <p:tag name="KSO_WM_UNIT_TYPE" val="f"/>
  <p:tag name="KSO_WM_UNIT_INDEX" val="1"/>
  <p:tag name="KSO_WM_TEMPLATE_CATEGORY" val="custom"/>
  <p:tag name="KSO_WM_TEMPLATE_INDEX" val="20230980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980"/>
  <p:tag name="KSO_WM_TEMPLATE_THUMBS_INDEX" val="1、9"/>
</p:tagLst>
</file>

<file path=ppt/tags/tag13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980_1*a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PRESET_TEXT" val="添加文档标题"/>
  <p:tag name="KSO_WM_UNIT_TEXT_TYPE" val="1"/>
</p:tagLst>
</file>

<file path=ppt/tags/tag138.xml><?xml version="1.0" encoding="utf-8"?>
<p:tagLst xmlns:p="http://schemas.openxmlformats.org/presentationml/2006/main">
  <p:tag name="KSO_WM_UNIT_SUBTYPE" val="b"/>
  <p:tag name="KSO_WM_UNIT_NOCLEAR" val="0"/>
  <p:tag name="KSO_WM_UNIT_VALUE" val="2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980_1*f*1"/>
  <p:tag name="KSO_WM_TEMPLATE_CATEGORY" val="custom"/>
  <p:tag name="KSO_WM_TEMPLATE_INDEX" val="20230980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SLIDE_ID" val="custom20230980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980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12567"/>
  <p:tag name="KSO_WM_SLIDE_THEME_NAME" val="紫色业绩汇报办公插画主题模板"/>
</p:tagLst>
</file>

<file path=ppt/tags/tag140.xml><?xml version="1.0" encoding="utf-8"?>
<p:tagLst xmlns:p="http://schemas.openxmlformats.org/presentationml/2006/main">
  <p:tag name="TABLE_ENDDRAG_ORIGIN_RECT" val="165*402"/>
  <p:tag name="TABLE_ENDDRAG_RECT" val="96*5*165*402"/>
</p:tagLst>
</file>

<file path=ppt/tags/tag141.xml><?xml version="1.0" encoding="utf-8"?>
<p:tagLst xmlns:p="http://schemas.openxmlformats.org/presentationml/2006/main">
  <p:tag name="TABLE_ENDDRAG_ORIGIN_RECT" val="118*125"/>
  <p:tag name="TABLE_ENDDRAG_RECT" val="55*416*118*125"/>
</p:tagLst>
</file>

<file path=ppt/tags/tag14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069_1*a*1"/>
  <p:tag name="KSO_WM_TEMPLATE_CATEGORY" val="diagram"/>
  <p:tag name="KSO_WM_TEMPLATE_INDEX" val="20231069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44.xml><?xml version="1.0" encoding="utf-8"?>
<p:tagLst xmlns:p="http://schemas.openxmlformats.org/presentationml/2006/main">
  <p:tag name="TABLE_ENDDRAG_ORIGIN_RECT" val="120*88"/>
  <p:tag name="TABLE_ENDDRAG_RECT" val="359*443*120*88"/>
</p:tagLst>
</file>

<file path=ppt/tags/tag145.xml><?xml version="1.0" encoding="utf-8"?>
<p:tagLst xmlns:p="http://schemas.openxmlformats.org/presentationml/2006/main">
  <p:tag name="TABLE_ENDDRAG_ORIGIN_RECT" val="120*88"/>
  <p:tag name="TABLE_ENDDRAG_RECT" val="359*443*120*88"/>
</p:tagLst>
</file>

<file path=ppt/tags/tag146.xml><?xml version="1.0" encoding="utf-8"?>
<p:tagLst xmlns:p="http://schemas.openxmlformats.org/presentationml/2006/main">
  <p:tag name="TABLE_ENDDRAG_ORIGIN_RECT" val="120*41"/>
  <p:tag name="TABLE_ENDDRAG_RECT" val="291*279*120*41"/>
</p:tagLst>
</file>

<file path=ppt/tags/tag147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ags/tag148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ags/tag149.xml><?xml version="1.0" encoding="utf-8"?>
<p:tagLst xmlns:p="http://schemas.openxmlformats.org/presentationml/2006/main">
  <p:tag name="TABLE_ENDDRAG_ORIGIN_RECT" val="165*402"/>
  <p:tag name="TABLE_ENDDRAG_RECT" val="96*5*165*402"/>
</p:tagLst>
</file>

<file path=ppt/tags/tag150.xml><?xml version="1.0" encoding="utf-8"?>
<p:tagLst xmlns:p="http://schemas.openxmlformats.org/presentationml/2006/main">
  <p:tag name="TABLE_ENDDRAG_ORIGIN_RECT" val="258*87"/>
  <p:tag name="TABLE_ENDDRAG_RECT" val="359*309*258*87"/>
</p:tagLst>
</file>

<file path=ppt/tags/tag151.xml><?xml version="1.0" encoding="utf-8"?>
<p:tagLst xmlns:p="http://schemas.openxmlformats.org/presentationml/2006/main">
  <p:tag name="TABLE_ENDDRAG_ORIGIN_RECT" val="273*53"/>
  <p:tag name="TABLE_ENDDRAG_RECT" val="336*208*273*53"/>
</p:tagLst>
</file>

<file path=ppt/tags/tag152.xml><?xml version="1.0" encoding="utf-8"?>
<p:tagLst xmlns:p="http://schemas.openxmlformats.org/presentationml/2006/main">
  <p:tag name="TABLE_ENDDRAG_ORIGIN_RECT" val="226*58"/>
  <p:tag name="TABLE_ENDDRAG_RECT" val="317*63*226*58"/>
</p:tagLst>
</file>

<file path=ppt/tags/tag153.xml><?xml version="1.0" encoding="utf-8"?>
<p:tagLst xmlns:p="http://schemas.openxmlformats.org/presentationml/2006/main">
  <p:tag name="TABLE_ENDDRAG_ORIGIN_RECT" val="74*69"/>
  <p:tag name="TABLE_ENDDRAG_RECT" val="542*5*74*69"/>
</p:tagLst>
</file>

<file path=ppt/tags/tag154.xml><?xml version="1.0" encoding="utf-8"?>
<p:tagLst xmlns:p="http://schemas.openxmlformats.org/presentationml/2006/main">
  <p:tag name="TABLE_ENDDRAG_ORIGIN_RECT" val="91*58"/>
  <p:tag name="TABLE_ENDDRAG_RECT" val="317*27*91*58"/>
</p:tagLst>
</file>

<file path=ppt/tags/tag155.xml><?xml version="1.0" encoding="utf-8"?>
<p:tagLst xmlns:p="http://schemas.openxmlformats.org/presentationml/2006/main">
  <p:tag name="TABLE_ENDDRAG_ORIGIN_RECT" val="332*151"/>
  <p:tag name="TABLE_ENDDRAG_RECT" val="486*206*332*15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57.xml><?xml version="1.0" encoding="utf-8"?>
<p:tagLst xmlns:p="http://schemas.openxmlformats.org/presentationml/2006/main">
  <p:tag name="TABLE_ENDDRAG_ORIGIN_RECT" val="120*88"/>
  <p:tag name="TABLE_ENDDRAG_RECT" val="359*443*120*88"/>
</p:tagLst>
</file>

<file path=ppt/tags/tag158.xml><?xml version="1.0" encoding="utf-8"?>
<p:tagLst xmlns:p="http://schemas.openxmlformats.org/presentationml/2006/main">
  <p:tag name="TABLE_ENDDRAG_ORIGIN_RECT" val="120*88"/>
  <p:tag name="TABLE_ENDDRAG_RECT" val="359*443*120*88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61.xml><?xml version="1.0" encoding="utf-8"?>
<p:tagLst xmlns:p="http://schemas.openxmlformats.org/presentationml/2006/main">
  <p:tag name="TABLE_ENDDRAG_ORIGIN_RECT" val="273*53"/>
  <p:tag name="TABLE_ENDDRAG_RECT" val="336*208*273*53"/>
</p:tagLst>
</file>

<file path=ppt/tags/tag162.xml><?xml version="1.0" encoding="utf-8"?>
<p:tagLst xmlns:p="http://schemas.openxmlformats.org/presentationml/2006/main">
  <p:tag name="TABLE_ENDDRAG_ORIGIN_RECT" val="226*58"/>
  <p:tag name="TABLE_ENDDRAG_RECT" val="317*63*226*58"/>
</p:tagLst>
</file>

<file path=ppt/tags/tag163.xml><?xml version="1.0" encoding="utf-8"?>
<p:tagLst xmlns:p="http://schemas.openxmlformats.org/presentationml/2006/main">
  <p:tag name="TABLE_ENDDRAG_ORIGIN_RECT" val="74*69"/>
  <p:tag name="TABLE_ENDDRAG_RECT" val="542*5*74*69"/>
</p:tagLst>
</file>

<file path=ppt/tags/tag164.xml><?xml version="1.0" encoding="utf-8"?>
<p:tagLst xmlns:p="http://schemas.openxmlformats.org/presentationml/2006/main">
  <p:tag name="TABLE_ENDDRAG_ORIGIN_RECT" val="91*58"/>
  <p:tag name="TABLE_ENDDRAG_RECT" val="317*27*91*58"/>
</p:tagLst>
</file>

<file path=ppt/tags/tag165.xml><?xml version="1.0" encoding="utf-8"?>
<p:tagLst xmlns:p="http://schemas.openxmlformats.org/presentationml/2006/main">
  <p:tag name="TABLE_ENDDRAG_ORIGIN_RECT" val="332*151"/>
  <p:tag name="TABLE_ENDDRAG_RECT" val="486*206*332*151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67.xml><?xml version="1.0" encoding="utf-8"?>
<p:tagLst xmlns:p="http://schemas.openxmlformats.org/presentationml/2006/main">
  <p:tag name="TABLE_ENDDRAG_ORIGIN_RECT" val="120*88"/>
  <p:tag name="TABLE_ENDDRAG_RECT" val="359*443*120*88"/>
</p:tagLst>
</file>

<file path=ppt/tags/tag168.xml><?xml version="1.0" encoding="utf-8"?>
<p:tagLst xmlns:p="http://schemas.openxmlformats.org/presentationml/2006/main">
  <p:tag name="TABLE_ENDDRAG_ORIGIN_RECT" val="120*88"/>
  <p:tag name="TABLE_ENDDRAG_RECT" val="359*443*120*88"/>
</p:tagLst>
</file>

<file path=ppt/tags/tag169.xml><?xml version="1.0" encoding="utf-8"?>
<p:tagLst xmlns:p="http://schemas.openxmlformats.org/presentationml/2006/main">
  <p:tag name="TABLE_ENDDRAG_ORIGIN_RECT" val="91*58"/>
  <p:tag name="TABLE_ENDDRAG_RECT" val="317*27*91*58"/>
</p:tagLst>
</file>

<file path=ppt/tags/tag170.xml><?xml version="1.0" encoding="utf-8"?>
<p:tagLst xmlns:p="http://schemas.openxmlformats.org/presentationml/2006/main">
  <p:tag name="TABLE_ENDDRAG_ORIGIN_RECT" val="91*58"/>
  <p:tag name="TABLE_ENDDRAG_RECT" val="317*27*91*58"/>
</p:tagLst>
</file>

<file path=ppt/tags/tag171.xml><?xml version="1.0" encoding="utf-8"?>
<p:tagLst xmlns:p="http://schemas.openxmlformats.org/presentationml/2006/main">
  <p:tag name="TABLE_ENDDRAG_ORIGIN_RECT" val="258*87"/>
  <p:tag name="TABLE_ENDDRAG_RECT" val="359*309*258*87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73.xml><?xml version="1.0" encoding="utf-8"?>
<p:tagLst xmlns:p="http://schemas.openxmlformats.org/presentationml/2006/main">
  <p:tag name="TABLE_ENDDRAG_ORIGIN_RECT" val="273*53"/>
  <p:tag name="TABLE_ENDDRAG_RECT" val="336*208*273*53"/>
</p:tagLst>
</file>

<file path=ppt/tags/tag174.xml><?xml version="1.0" encoding="utf-8"?>
<p:tagLst xmlns:p="http://schemas.openxmlformats.org/presentationml/2006/main">
  <p:tag name="TABLE_ENDDRAG_ORIGIN_RECT" val="226*58"/>
  <p:tag name="TABLE_ENDDRAG_RECT" val="317*63*226*58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80_9*a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1"/>
  <p:tag name="KSO_WM_UNIT_TYPE" val="a"/>
  <p:tag name="KSO_WM_UNIT_INDEX" val="1"/>
</p:tagLst>
</file>

<file path=ppt/tags/tag177.xml><?xml version="1.0" encoding="utf-8"?>
<p:tagLst xmlns:p="http://schemas.openxmlformats.org/presentationml/2006/main">
  <p:tag name="KSO_WM_SLIDE_ID" val="custom20230980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980"/>
  <p:tag name="KSO_WM_SLIDE_TYPE" val="endPage"/>
  <p:tag name="KSO_WM_SLIDE_SUBTYPE" val="pureTxt"/>
  <p:tag name="KSO_WM_SLIDE_LAYOUT" val="a_f"/>
  <p:tag name="KSO_WM_SLIDE_LAYOUT_CNT" val="1_1"/>
  <p:tag name="KSO_WM_SLIDE_THEME_ID" val="3312567"/>
  <p:tag name="KSO_WM_SLIDE_THEME_NAME" val="紫色业绩汇报办公插画主题模板"/>
</p:tagLst>
</file>

<file path=ppt/tags/tag178.xml><?xml version="1.0" encoding="utf-8"?>
<p:tagLst xmlns:p="http://schemas.openxmlformats.org/presentationml/2006/main">
  <p:tag name="TABLE_ENDDRAG_ORIGIN_RECT" val="165*402"/>
  <p:tag name="TABLE_ENDDRAG_RECT" val="96*5*165*402"/>
</p:tagLst>
</file>

<file path=ppt/tags/tag179.xml><?xml version="1.0" encoding="utf-8"?>
<p:tagLst xmlns:p="http://schemas.openxmlformats.org/presentationml/2006/main">
  <p:tag name="TABLE_ENDDRAG_ORIGIN_RECT" val="118*125"/>
  <p:tag name="TABLE_ENDDRAG_RECT" val="55*416*118*125"/>
</p:tagLst>
</file>

<file path=ppt/tags/tag180.xml><?xml version="1.0" encoding="utf-8"?>
<p:tagLst xmlns:p="http://schemas.openxmlformats.org/presentationml/2006/main">
  <p:tag name="TABLE_ENDDRAG_ORIGIN_RECT" val="120*88"/>
  <p:tag name="TABLE_ENDDRAG_RECT" val="359*443*120*88"/>
</p:tagLst>
</file>

<file path=ppt/tags/tag181.xml><?xml version="1.0" encoding="utf-8"?>
<p:tagLst xmlns:p="http://schemas.openxmlformats.org/presentationml/2006/main">
  <p:tag name="TABLE_ENDDRAG_ORIGIN_RECT" val="258*87"/>
  <p:tag name="TABLE_ENDDRAG_RECT" val="359*309*258*87"/>
</p:tagLst>
</file>

<file path=ppt/tags/tag182.xml><?xml version="1.0" encoding="utf-8"?>
<p:tagLst xmlns:p="http://schemas.openxmlformats.org/presentationml/2006/main">
  <p:tag name="TABLE_ENDDRAG_ORIGIN_RECT" val="120*88"/>
  <p:tag name="TABLE_ENDDRAG_RECT" val="359*443*120*88"/>
</p:tagLst>
</file>

<file path=ppt/tags/tag183.xml><?xml version="1.0" encoding="utf-8"?>
<p:tagLst xmlns:p="http://schemas.openxmlformats.org/presentationml/2006/main">
  <p:tag name="TABLE_ENDDRAG_ORIGIN_RECT" val="273*53"/>
  <p:tag name="TABLE_ENDDRAG_RECT" val="336*208*273*53"/>
</p:tagLst>
</file>

<file path=ppt/tags/tag184.xml><?xml version="1.0" encoding="utf-8"?>
<p:tagLst xmlns:p="http://schemas.openxmlformats.org/presentationml/2006/main">
  <p:tag name="TABLE_ENDDRAG_ORIGIN_RECT" val="226*58"/>
  <p:tag name="TABLE_ENDDRAG_RECT" val="317*63*226*58"/>
</p:tagLst>
</file>

<file path=ppt/tags/tag185.xml><?xml version="1.0" encoding="utf-8"?>
<p:tagLst xmlns:p="http://schemas.openxmlformats.org/presentationml/2006/main">
  <p:tag name="TABLE_ENDDRAG_ORIGIN_RECT" val="74*69"/>
  <p:tag name="TABLE_ENDDRAG_RECT" val="542*5*74*69"/>
</p:tagLst>
</file>

<file path=ppt/tags/tag186.xml><?xml version="1.0" encoding="utf-8"?>
<p:tagLst xmlns:p="http://schemas.openxmlformats.org/presentationml/2006/main">
  <p:tag name="TABLE_ENDDRAG_ORIGIN_RECT" val="91*58"/>
  <p:tag name="TABLE_ENDDRAG_RECT" val="317*27*91*58"/>
</p:tagLst>
</file>

<file path=ppt/tags/tag187.xml><?xml version="1.0" encoding="utf-8"?>
<p:tagLst xmlns:p="http://schemas.openxmlformats.org/presentationml/2006/main">
  <p:tag name="TABLE_ENDDRAG_ORIGIN_RECT" val="332*151"/>
  <p:tag name="TABLE_ENDDRAG_RECT" val="486*206*332*15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115">
      <a:dk1>
        <a:srgbClr val="000000"/>
      </a:dk1>
      <a:lt1>
        <a:srgbClr val="FFFFFF"/>
      </a:lt1>
      <a:dk2>
        <a:srgbClr val="43435B"/>
      </a:dk2>
      <a:lt2>
        <a:srgbClr val="EBE9F7"/>
      </a:lt2>
      <a:accent1>
        <a:srgbClr val="5C52BA"/>
      </a:accent1>
      <a:accent2>
        <a:srgbClr val="7C65A2"/>
      </a:accent2>
      <a:accent3>
        <a:srgbClr val="9C7889"/>
      </a:accent3>
      <a:accent4>
        <a:srgbClr val="BB8A71"/>
      </a:accent4>
      <a:accent5>
        <a:srgbClr val="DB9D58"/>
      </a:accent5>
      <a:accent6>
        <a:srgbClr val="FBB040"/>
      </a:accent6>
      <a:hlink>
        <a:srgbClr val="000000"/>
      </a:hlink>
      <a:folHlink>
        <a:srgbClr val="919191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accent1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主题字体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accent1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7793</Words>
  <Application>WPS 演示</Application>
  <PresentationFormat>宽屏</PresentationFormat>
  <Paragraphs>1299</Paragraphs>
  <Slides>12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华文楷体</vt:lpstr>
      <vt:lpstr>Arial Unicode MS</vt:lpstr>
      <vt:lpstr>Calibri</vt:lpstr>
      <vt:lpstr>WPS</vt:lpstr>
      <vt:lpstr>Office 主题​​</vt:lpstr>
      <vt:lpstr>1_Office 主题​​</vt:lpstr>
      <vt:lpstr>ret2dlresolve                           ——linkmap</vt:lpstr>
      <vt:lpstr>0x00. link&amp;load</vt:lpstr>
      <vt:lpstr>0x01. plt&amp;got</vt:lpstr>
      <vt:lpstr>plt&amp;got</vt:lpstr>
      <vt:lpstr>dl_runtime_resolve</vt:lpstr>
      <vt:lpstr>dl_runtime_resolve</vt:lpstr>
      <vt:lpstr>dl_runtime_resolve</vt:lpstr>
      <vt:lpstr>link_map</vt:lpstr>
      <vt:lpstr>link_map</vt:lpstr>
      <vt:lpstr>link_map</vt:lpstr>
      <vt:lpstr>THANK YOU !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mあv</cp:lastModifiedBy>
  <cp:revision>95</cp:revision>
  <dcterms:created xsi:type="dcterms:W3CDTF">2023-08-09T12:44:00Z</dcterms:created>
  <dcterms:modified xsi:type="dcterms:W3CDTF">2026-02-03T10:38:03Z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0FFB374EF87741258E9EC42A4DEF22FC_13</vt:lpwstr>
  </property>
</Properties>
</file>